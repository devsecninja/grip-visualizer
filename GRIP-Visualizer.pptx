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</p:sldIdLst>
  <p:notesMasterIdLst>
    <p:notesMasterId r:id="rId5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notesMaster" Target="notesMasters/notesMaster1.xml"/><Relationship Id="rId56" Type="http://schemas.openxmlformats.org/officeDocument/2006/relationships/presProps" Target="presProps.xml"/><Relationship Id="rId57" Type="http://schemas.openxmlformats.org/officeDocument/2006/relationships/viewProps" Target="viewProps.xml"/><Relationship Id="rId58" Type="http://schemas.openxmlformats.org/officeDocument/2006/relationships/theme" Target="theme/theme1.xml"/><Relationship Id="rId5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F6D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377440"/>
            <a:ext cx="11704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2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GRIP Visualizer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3291840"/>
            <a:ext cx="1170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Associer les mesures GRIP flamandes à la pile Microsoft A3/A5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035040"/>
            <a:ext cx="1170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 juin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EA5A3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82880"/>
            <a:ext cx="822960" cy="347472"/>
          </a:xfrm>
          <a:prstGeom prst="roundRect">
            <a:avLst>
              <a:gd name="adj" fmla="val 13158"/>
            </a:avLst>
          </a:prstGeom>
          <a:solidFill>
            <a:srgbClr val="0EA5A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234440" y="20116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Basis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331720" y="201168"/>
            <a:ext cx="640080" cy="292608"/>
          </a:xfrm>
          <a:prstGeom prst="rect">
            <a:avLst/>
          </a:prstGeom>
          <a:solidFill>
            <a:srgbClr val="64748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658368"/>
            <a:ext cx="11521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2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Informez-vous sur les notions de « sécurité de l'information » et de « vie privée » et comprenez-les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20040" y="1664208"/>
            <a:ext cx="11521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Développez des connaissances de base sur la sécurité de l'information et la vie privée auprès de la direction et du personnel.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2606040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Correspondance Microsoft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2907792"/>
            <a:ext cx="11521440" cy="0"/>
          </a:xfrm>
          <a:prstGeom prst="line">
            <a:avLst/>
          </a:prstGeom>
          <a:noFill/>
          <a:ln w="6350">
            <a:solidFill>
              <a:srgbClr val="E3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2999232"/>
            <a:ext cx="5650992" cy="822960"/>
          </a:xfrm>
          <a:prstGeom prst="roundRect">
            <a:avLst>
              <a:gd name="adj" fmla="val 6667"/>
            </a:avLst>
          </a:prstGeom>
          <a:solidFill>
            <a:srgbClr val="F2F5FA"/>
          </a:solidFill>
          <a:ln w="6350">
            <a:solidFill>
              <a:srgbClr val="E3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3063240"/>
            <a:ext cx="5468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2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Service Trust Portal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788152" y="3063240"/>
            <a:ext cx="256032" cy="201168"/>
          </a:xfrm>
          <a:prstGeom prst="rect">
            <a:avLst/>
          </a:prstGeom>
          <a:solidFill>
            <a:srgbClr val="64748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A1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080760" y="2999232"/>
            <a:ext cx="5650992" cy="822960"/>
          </a:xfrm>
          <a:prstGeom prst="roundRect">
            <a:avLst>
              <a:gd name="adj" fmla="val 6667"/>
            </a:avLst>
          </a:prstGeom>
          <a:solidFill>
            <a:srgbClr val="F2F5FA"/>
          </a:solidFill>
          <a:ln w="6350">
            <a:solidFill>
              <a:srgbClr val="E3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72200" y="3063240"/>
            <a:ext cx="5468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2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Learn — Security &amp; compliance training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548872" y="3063240"/>
            <a:ext cx="256032" cy="201168"/>
          </a:xfrm>
          <a:prstGeom prst="rect">
            <a:avLst/>
          </a:prstGeom>
          <a:solidFill>
            <a:srgbClr val="64748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A1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1430000" y="649224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O1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EA5A3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82880"/>
            <a:ext cx="822960" cy="347472"/>
          </a:xfrm>
          <a:prstGeom prst="roundRect">
            <a:avLst>
              <a:gd name="adj" fmla="val 13158"/>
            </a:avLst>
          </a:prstGeom>
          <a:solidFill>
            <a:srgbClr val="0EA5A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234440" y="20116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Basis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331720" y="201168"/>
            <a:ext cx="640080" cy="292608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658368"/>
            <a:ext cx="11521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2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Désignez un DPD et d'autres personas en matière de sécurité de l'information et de vie privée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20040" y="1664208"/>
            <a:ext cx="11521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Attribuez les rôles et responsabilités, y compris un délégué à la protection des données (DPD).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2606040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Correspondance Microsoft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2907792"/>
            <a:ext cx="11521440" cy="0"/>
          </a:xfrm>
          <a:prstGeom prst="line">
            <a:avLst/>
          </a:prstGeom>
          <a:noFill/>
          <a:ln w="6350">
            <a:solidFill>
              <a:srgbClr val="E3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2999232"/>
            <a:ext cx="5650992" cy="822960"/>
          </a:xfrm>
          <a:prstGeom prst="roundRect">
            <a:avLst>
              <a:gd name="adj" fmla="val 6667"/>
            </a:avLst>
          </a:prstGeom>
          <a:solidFill>
            <a:srgbClr val="F2F5FA"/>
          </a:solidFill>
          <a:ln w="6350">
            <a:solidFill>
              <a:srgbClr val="E3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3063240"/>
            <a:ext cx="5468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2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Entra ID — Roles &amp; administrative units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788152" y="3063240"/>
            <a:ext cx="256032" cy="201168"/>
          </a:xfrm>
          <a:prstGeom prst="rect">
            <a:avLst/>
          </a:prstGeom>
          <a:solidFill>
            <a:srgbClr val="64748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A1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080760" y="2999232"/>
            <a:ext cx="5650992" cy="822960"/>
          </a:xfrm>
          <a:prstGeom prst="roundRect">
            <a:avLst>
              <a:gd name="adj" fmla="val 6667"/>
            </a:avLst>
          </a:prstGeom>
          <a:solidFill>
            <a:srgbClr val="F1E9FF"/>
          </a:solidFill>
          <a:ln w="6350">
            <a:solidFill>
              <a:srgbClr val="C4B5F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72200" y="3063240"/>
            <a:ext cx="5468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2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Privileged Identity Management (PIM)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548872" y="3063240"/>
            <a:ext cx="256032" cy="201168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A5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1430000" y="649224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O2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EA5A3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82880"/>
            <a:ext cx="822960" cy="347472"/>
          </a:xfrm>
          <a:prstGeom prst="roundRect">
            <a:avLst>
              <a:gd name="adj" fmla="val 13158"/>
            </a:avLst>
          </a:prstGeom>
          <a:solidFill>
            <a:srgbClr val="0EA5A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234440" y="20116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Basis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331720" y="201168"/>
            <a:ext cx="640080" cy="292608"/>
          </a:xfrm>
          <a:prstGeom prst="rect">
            <a:avLst/>
          </a:prstGeom>
          <a:solidFill>
            <a:srgbClr val="2F6DF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658368"/>
            <a:ext cx="11521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2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Adhérez à la déclaration de politique et élaborez un plan de politique en matière de S&amp;V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20040" y="1664208"/>
            <a:ext cx="11521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Documentez formellement la politique de sécurité de l'information et de vie privée et faites-la approuver.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2606040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Correspondance Microsoft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2907792"/>
            <a:ext cx="11521440" cy="0"/>
          </a:xfrm>
          <a:prstGeom prst="line">
            <a:avLst/>
          </a:prstGeom>
          <a:noFill/>
          <a:ln w="6350">
            <a:solidFill>
              <a:srgbClr val="E3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2999232"/>
            <a:ext cx="11411712" cy="822960"/>
          </a:xfrm>
          <a:prstGeom prst="roundRect">
            <a:avLst>
              <a:gd name="adj" fmla="val 6667"/>
            </a:avLst>
          </a:prstGeom>
          <a:solidFill>
            <a:srgbClr val="F2F5FA"/>
          </a:solidFill>
          <a:ln w="6350">
            <a:solidFill>
              <a:srgbClr val="E3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3063240"/>
            <a:ext cx="11228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2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Purview Compliance Manager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548872" y="3063240"/>
            <a:ext cx="256032" cy="201168"/>
          </a:xfrm>
          <a:prstGeom prst="rect">
            <a:avLst/>
          </a:prstGeom>
          <a:solidFill>
            <a:srgbClr val="2F6DF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A3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1430000" y="649224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O3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EA5A3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82880"/>
            <a:ext cx="822960" cy="347472"/>
          </a:xfrm>
          <a:prstGeom prst="roundRect">
            <a:avLst>
              <a:gd name="adj" fmla="val 13158"/>
            </a:avLst>
          </a:prstGeom>
          <a:solidFill>
            <a:srgbClr val="0EA5A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234440" y="20116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Basis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331720" y="201168"/>
            <a:ext cx="640080" cy="292608"/>
          </a:xfrm>
          <a:prstGeom prst="rect">
            <a:avLst/>
          </a:prstGeom>
          <a:solidFill>
            <a:srgbClr val="2F6DF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658368"/>
            <a:ext cx="11521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2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Prévoyez un plan d'action pour mettre en œuvre et évaluer votre politique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20040" y="1664208"/>
            <a:ext cx="11521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Traduisez la politique en actions concrètes, avec des responsables et des moments d'évaluation.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2606040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Correspondance Microsoft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2907792"/>
            <a:ext cx="11521440" cy="0"/>
          </a:xfrm>
          <a:prstGeom prst="line">
            <a:avLst/>
          </a:prstGeom>
          <a:noFill/>
          <a:ln w="6350">
            <a:solidFill>
              <a:srgbClr val="E3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2999232"/>
            <a:ext cx="5650992" cy="822960"/>
          </a:xfrm>
          <a:prstGeom prst="roundRect">
            <a:avLst>
              <a:gd name="adj" fmla="val 6667"/>
            </a:avLst>
          </a:prstGeom>
          <a:solidFill>
            <a:srgbClr val="F2F5FA"/>
          </a:solidFill>
          <a:ln w="6350">
            <a:solidFill>
              <a:srgbClr val="E3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3063240"/>
            <a:ext cx="5468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2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Purview Compliance Manager — Improvement actions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788152" y="3063240"/>
            <a:ext cx="256032" cy="201168"/>
          </a:xfrm>
          <a:prstGeom prst="rect">
            <a:avLst/>
          </a:prstGeom>
          <a:solidFill>
            <a:srgbClr val="2F6DF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A3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080760" y="2999232"/>
            <a:ext cx="5650992" cy="822960"/>
          </a:xfrm>
          <a:prstGeom prst="roundRect">
            <a:avLst>
              <a:gd name="adj" fmla="val 6667"/>
            </a:avLst>
          </a:prstGeom>
          <a:solidFill>
            <a:srgbClr val="F2F5FA"/>
          </a:solidFill>
          <a:ln w="6350">
            <a:solidFill>
              <a:srgbClr val="E3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72200" y="3063240"/>
            <a:ext cx="5468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2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Planner / Microsoft 365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548872" y="3063240"/>
            <a:ext cx="256032" cy="201168"/>
          </a:xfrm>
          <a:prstGeom prst="rect">
            <a:avLst/>
          </a:prstGeom>
          <a:solidFill>
            <a:srgbClr val="64748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A1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1430000" y="649224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O4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EA5A3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82880"/>
            <a:ext cx="822960" cy="347472"/>
          </a:xfrm>
          <a:prstGeom prst="roundRect">
            <a:avLst>
              <a:gd name="adj" fmla="val 13158"/>
            </a:avLst>
          </a:prstGeom>
          <a:solidFill>
            <a:srgbClr val="0EA5A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234440" y="20116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Basis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331720" y="201168"/>
            <a:ext cx="640080" cy="292608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658368"/>
            <a:ext cx="11521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2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Établissez un inventaire de tous les appareils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20040" y="1664208"/>
            <a:ext cx="11521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Tenez à jour un aperçu de tous les appareils qui accèdent à l'information.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2606040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Correspondance Microsoft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2907792"/>
            <a:ext cx="11521440" cy="0"/>
          </a:xfrm>
          <a:prstGeom prst="line">
            <a:avLst/>
          </a:prstGeom>
          <a:noFill/>
          <a:ln w="6350">
            <a:solidFill>
              <a:srgbClr val="E3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2999232"/>
            <a:ext cx="3730752" cy="822960"/>
          </a:xfrm>
          <a:prstGeom prst="roundRect">
            <a:avLst>
              <a:gd name="adj" fmla="val 6667"/>
            </a:avLst>
          </a:prstGeom>
          <a:solidFill>
            <a:srgbClr val="F2F5FA"/>
          </a:solidFill>
          <a:ln w="6350">
            <a:solidFill>
              <a:srgbClr val="E3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3063240"/>
            <a:ext cx="3547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2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Intune — Device inventory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867912" y="3063240"/>
            <a:ext cx="256032" cy="201168"/>
          </a:xfrm>
          <a:prstGeom prst="rect">
            <a:avLst/>
          </a:prstGeom>
          <a:solidFill>
            <a:srgbClr val="2F6DF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A3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160520" y="2999232"/>
            <a:ext cx="3730752" cy="822960"/>
          </a:xfrm>
          <a:prstGeom prst="roundRect">
            <a:avLst>
              <a:gd name="adj" fmla="val 6667"/>
            </a:avLst>
          </a:prstGeom>
          <a:solidFill>
            <a:srgbClr val="F2F5FA"/>
          </a:solidFill>
          <a:ln w="6350">
            <a:solidFill>
              <a:srgbClr val="E3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51960" y="3063240"/>
            <a:ext cx="3547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2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Entra ID — Registered devices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708392" y="3063240"/>
            <a:ext cx="256032" cy="201168"/>
          </a:xfrm>
          <a:prstGeom prst="rect">
            <a:avLst/>
          </a:prstGeom>
          <a:solidFill>
            <a:srgbClr val="64748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A1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8001000" y="2999232"/>
            <a:ext cx="3730752" cy="822960"/>
          </a:xfrm>
          <a:prstGeom prst="roundRect">
            <a:avLst>
              <a:gd name="adj" fmla="val 6667"/>
            </a:avLst>
          </a:prstGeom>
          <a:solidFill>
            <a:srgbClr val="F1E9FF"/>
          </a:solidFill>
          <a:ln w="6350">
            <a:solidFill>
              <a:srgbClr val="C4B5F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92440" y="3063240"/>
            <a:ext cx="3547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2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Defender for Endpoint — Device inventory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548872" y="3063240"/>
            <a:ext cx="256032" cy="201168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A5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1430000" y="649224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O5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EA5A3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82880"/>
            <a:ext cx="822960" cy="347472"/>
          </a:xfrm>
          <a:prstGeom prst="roundRect">
            <a:avLst>
              <a:gd name="adj" fmla="val 13158"/>
            </a:avLst>
          </a:prstGeom>
          <a:solidFill>
            <a:srgbClr val="0EA5A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234440" y="20116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Basis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331720" y="201168"/>
            <a:ext cx="640080" cy="292608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658368"/>
            <a:ext cx="11521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2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Établissez un inventaire de toutes les applications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20040" y="1664208"/>
            <a:ext cx="11521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Recensez toutes les applications et applications cloud utilisées, y compris le shadow IT.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2606040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Correspondance Microsoft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2907792"/>
            <a:ext cx="11521440" cy="0"/>
          </a:xfrm>
          <a:prstGeom prst="line">
            <a:avLst/>
          </a:prstGeom>
          <a:noFill/>
          <a:ln w="6350">
            <a:solidFill>
              <a:srgbClr val="E3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2999232"/>
            <a:ext cx="3730752" cy="822960"/>
          </a:xfrm>
          <a:prstGeom prst="roundRect">
            <a:avLst>
              <a:gd name="adj" fmla="val 6667"/>
            </a:avLst>
          </a:prstGeom>
          <a:solidFill>
            <a:srgbClr val="F2F5FA"/>
          </a:solidFill>
          <a:ln w="6350">
            <a:solidFill>
              <a:srgbClr val="E3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3063240"/>
            <a:ext cx="3547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2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Entra ID — Enterprise applications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867912" y="3063240"/>
            <a:ext cx="256032" cy="201168"/>
          </a:xfrm>
          <a:prstGeom prst="rect">
            <a:avLst/>
          </a:prstGeom>
          <a:solidFill>
            <a:srgbClr val="64748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A1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160520" y="2999232"/>
            <a:ext cx="3730752" cy="822960"/>
          </a:xfrm>
          <a:prstGeom prst="roundRect">
            <a:avLst>
              <a:gd name="adj" fmla="val 6667"/>
            </a:avLst>
          </a:prstGeom>
          <a:solidFill>
            <a:srgbClr val="F1E9FF"/>
          </a:solidFill>
          <a:ln w="6350">
            <a:solidFill>
              <a:srgbClr val="C4B5F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51960" y="3063240"/>
            <a:ext cx="3547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2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Defender for Cloud Apps — App discovery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708392" y="3063240"/>
            <a:ext cx="256032" cy="201168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A5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8001000" y="2999232"/>
            <a:ext cx="3730752" cy="822960"/>
          </a:xfrm>
          <a:prstGeom prst="roundRect">
            <a:avLst>
              <a:gd name="adj" fmla="val 6667"/>
            </a:avLst>
          </a:prstGeom>
          <a:solidFill>
            <a:srgbClr val="F2F5FA"/>
          </a:solidFill>
          <a:ln w="6350">
            <a:solidFill>
              <a:srgbClr val="E3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92440" y="3063240"/>
            <a:ext cx="3547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2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Intune — Discovered apps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548872" y="3063240"/>
            <a:ext cx="256032" cy="201168"/>
          </a:xfrm>
          <a:prstGeom prst="rect">
            <a:avLst/>
          </a:prstGeom>
          <a:solidFill>
            <a:srgbClr val="2F6DF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A3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1430000" y="649224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O6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EA5A3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82880"/>
            <a:ext cx="822960" cy="347472"/>
          </a:xfrm>
          <a:prstGeom prst="roundRect">
            <a:avLst>
              <a:gd name="adj" fmla="val 13158"/>
            </a:avLst>
          </a:prstGeom>
          <a:solidFill>
            <a:srgbClr val="0EA5A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O7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234440" y="20116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Basis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331720" y="201168"/>
            <a:ext cx="640080" cy="292608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658368"/>
            <a:ext cx="11521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2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Établissez une politique d'authentification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20040" y="1664208"/>
            <a:ext cx="11521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Définissez la manière dont les utilisateurs se connectent, avec une authentification forte et la MFA.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2606040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Correspondance Microsoft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2907792"/>
            <a:ext cx="11521440" cy="0"/>
          </a:xfrm>
          <a:prstGeom prst="line">
            <a:avLst/>
          </a:prstGeom>
          <a:noFill/>
          <a:ln w="6350">
            <a:solidFill>
              <a:srgbClr val="E3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2999232"/>
            <a:ext cx="3730752" cy="822960"/>
          </a:xfrm>
          <a:prstGeom prst="roundRect">
            <a:avLst>
              <a:gd name="adj" fmla="val 6667"/>
            </a:avLst>
          </a:prstGeom>
          <a:solidFill>
            <a:srgbClr val="F2F5FA"/>
          </a:solidFill>
          <a:ln w="6350">
            <a:solidFill>
              <a:srgbClr val="E3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3063240"/>
            <a:ext cx="3547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2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Entra ID — Multifactor authentication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867912" y="3063240"/>
            <a:ext cx="256032" cy="201168"/>
          </a:xfrm>
          <a:prstGeom prst="rect">
            <a:avLst/>
          </a:prstGeom>
          <a:solidFill>
            <a:srgbClr val="64748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A1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160520" y="2999232"/>
            <a:ext cx="3730752" cy="822960"/>
          </a:xfrm>
          <a:prstGeom prst="roundRect">
            <a:avLst>
              <a:gd name="adj" fmla="val 6667"/>
            </a:avLst>
          </a:prstGeom>
          <a:solidFill>
            <a:srgbClr val="F2F5FA"/>
          </a:solidFill>
          <a:ln w="6350">
            <a:solidFill>
              <a:srgbClr val="E3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51960" y="3063240"/>
            <a:ext cx="3547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2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Conditional Access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708392" y="3063240"/>
            <a:ext cx="256032" cy="201168"/>
          </a:xfrm>
          <a:prstGeom prst="rect">
            <a:avLst/>
          </a:prstGeom>
          <a:solidFill>
            <a:srgbClr val="2F6DF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A3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8001000" y="2999232"/>
            <a:ext cx="3730752" cy="822960"/>
          </a:xfrm>
          <a:prstGeom prst="roundRect">
            <a:avLst>
              <a:gd name="adj" fmla="val 6667"/>
            </a:avLst>
          </a:prstGeom>
          <a:solidFill>
            <a:srgbClr val="F1E9FF"/>
          </a:solidFill>
          <a:ln w="6350">
            <a:solidFill>
              <a:srgbClr val="C4B5F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92440" y="3063240"/>
            <a:ext cx="3547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2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Entra ID Protection — Risk-based Conditional Access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548872" y="3063240"/>
            <a:ext cx="256032" cy="201168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A5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1430000" y="649224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O7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EA5A3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82880"/>
            <a:ext cx="822960" cy="347472"/>
          </a:xfrm>
          <a:prstGeom prst="roundRect">
            <a:avLst>
              <a:gd name="adj" fmla="val 13158"/>
            </a:avLst>
          </a:prstGeom>
          <a:solidFill>
            <a:srgbClr val="0EA5A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O8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234440" y="20116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Basis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331720" y="201168"/>
            <a:ext cx="640080" cy="292608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658368"/>
            <a:ext cx="11521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2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Rédigez une déclaration de confidentialité et mettez en œuvre une procédure pour traiter les demandes des personnes concernées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20040" y="1664208"/>
            <a:ext cx="11521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Publiez une déclaration de confidentialité et mettez en place un processus pour les droits des personnes concernées (DSR).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2606040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Correspondance Microsoft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2907792"/>
            <a:ext cx="11521440" cy="0"/>
          </a:xfrm>
          <a:prstGeom prst="line">
            <a:avLst/>
          </a:prstGeom>
          <a:noFill/>
          <a:ln w="6350">
            <a:solidFill>
              <a:srgbClr val="E3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2999232"/>
            <a:ext cx="5650992" cy="822960"/>
          </a:xfrm>
          <a:prstGeom prst="roundRect">
            <a:avLst>
              <a:gd name="adj" fmla="val 6667"/>
            </a:avLst>
          </a:prstGeom>
          <a:solidFill>
            <a:srgbClr val="F1E9FF"/>
          </a:solidFill>
          <a:ln w="6350">
            <a:solidFill>
              <a:srgbClr val="C4B5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3063240"/>
            <a:ext cx="5468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2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Priva — Subject Rights Requests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788152" y="3063240"/>
            <a:ext cx="256032" cy="201168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A5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080760" y="2999232"/>
            <a:ext cx="5650992" cy="822960"/>
          </a:xfrm>
          <a:prstGeom prst="roundRect">
            <a:avLst>
              <a:gd name="adj" fmla="val 6667"/>
            </a:avLst>
          </a:prstGeom>
          <a:solidFill>
            <a:srgbClr val="F2F5FA"/>
          </a:solidFill>
          <a:ln w="6350">
            <a:solidFill>
              <a:srgbClr val="E3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72200" y="3063240"/>
            <a:ext cx="5468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2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Purview — eDiscovery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548872" y="3063240"/>
            <a:ext cx="256032" cy="201168"/>
          </a:xfrm>
          <a:prstGeom prst="rect">
            <a:avLst/>
          </a:prstGeom>
          <a:solidFill>
            <a:srgbClr val="2F6DF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A3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1430000" y="649224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O8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EA5A3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82880"/>
            <a:ext cx="822960" cy="347472"/>
          </a:xfrm>
          <a:prstGeom prst="roundRect">
            <a:avLst>
              <a:gd name="adj" fmla="val 13158"/>
            </a:avLst>
          </a:prstGeom>
          <a:solidFill>
            <a:srgbClr val="0EA5A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O9.1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234440" y="20116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Basis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331720" y="201168"/>
            <a:ext cx="640080" cy="292608"/>
          </a:xfrm>
          <a:prstGeom prst="rect">
            <a:avLst/>
          </a:prstGeom>
          <a:solidFill>
            <a:srgbClr val="2F6DF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658368"/>
            <a:ext cx="11521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2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Ancrez la politique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20040" y="1664208"/>
            <a:ext cx="11521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Ancrez la politique de manière structurelle dans l'organisation, renforcée à chaque niveau Basis.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2606040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Correspondance Microsoft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2907792"/>
            <a:ext cx="11521440" cy="0"/>
          </a:xfrm>
          <a:prstGeom prst="line">
            <a:avLst/>
          </a:prstGeom>
          <a:noFill/>
          <a:ln w="6350">
            <a:solidFill>
              <a:srgbClr val="E3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2999232"/>
            <a:ext cx="11411712" cy="822960"/>
          </a:xfrm>
          <a:prstGeom prst="roundRect">
            <a:avLst>
              <a:gd name="adj" fmla="val 6667"/>
            </a:avLst>
          </a:prstGeom>
          <a:solidFill>
            <a:srgbClr val="F2F5FA"/>
          </a:solidFill>
          <a:ln w="6350">
            <a:solidFill>
              <a:srgbClr val="E3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3063240"/>
            <a:ext cx="11228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2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Purview Compliance Manager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548872" y="3063240"/>
            <a:ext cx="256032" cy="201168"/>
          </a:xfrm>
          <a:prstGeom prst="rect">
            <a:avLst/>
          </a:prstGeom>
          <a:solidFill>
            <a:srgbClr val="2F6DF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A3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1430000" y="649224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O9.1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EA5A3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82880"/>
            <a:ext cx="822960" cy="347472"/>
          </a:xfrm>
          <a:prstGeom prst="roundRect">
            <a:avLst>
              <a:gd name="adj" fmla="val 13158"/>
            </a:avLst>
          </a:prstGeom>
          <a:solidFill>
            <a:srgbClr val="0EA5A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O10.1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234440" y="20116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Basis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331720" y="201168"/>
            <a:ext cx="640080" cy="292608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658368"/>
            <a:ext cx="11521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2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Proposez de la formation, de l’entraînement et de la sensibilisation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20040" y="1664208"/>
            <a:ext cx="11521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Formez en continu le personnel et les élèves à un comportement sûr et soucieux de la vie privée.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2606040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Correspondance Microsoft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2907792"/>
            <a:ext cx="11521440" cy="0"/>
          </a:xfrm>
          <a:prstGeom prst="line">
            <a:avLst/>
          </a:prstGeom>
          <a:noFill/>
          <a:ln w="6350">
            <a:solidFill>
              <a:srgbClr val="E3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2999232"/>
            <a:ext cx="5650992" cy="822960"/>
          </a:xfrm>
          <a:prstGeom prst="roundRect">
            <a:avLst>
              <a:gd name="adj" fmla="val 6667"/>
            </a:avLst>
          </a:prstGeom>
          <a:solidFill>
            <a:srgbClr val="F1E9FF"/>
          </a:solidFill>
          <a:ln w="6350">
            <a:solidFill>
              <a:srgbClr val="C4B5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3063240"/>
            <a:ext cx="5468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2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Attack Simulation Training (Defender for Office 365)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788152" y="3063240"/>
            <a:ext cx="256032" cy="201168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A5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080760" y="2999232"/>
            <a:ext cx="5650992" cy="822960"/>
          </a:xfrm>
          <a:prstGeom prst="roundRect">
            <a:avLst>
              <a:gd name="adj" fmla="val 6667"/>
            </a:avLst>
          </a:prstGeom>
          <a:solidFill>
            <a:srgbClr val="F2F5FA"/>
          </a:solidFill>
          <a:ln w="6350">
            <a:solidFill>
              <a:srgbClr val="E3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72200" y="3063240"/>
            <a:ext cx="5468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2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Viva Learning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548872" y="3063240"/>
            <a:ext cx="256032" cy="201168"/>
          </a:xfrm>
          <a:prstGeom prst="rect">
            <a:avLst/>
          </a:prstGeom>
          <a:solidFill>
            <a:srgbClr val="64748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A1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1430000" y="649224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O10.1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F5871F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82880"/>
            <a:ext cx="822960" cy="347472"/>
          </a:xfrm>
          <a:prstGeom prst="roundRect">
            <a:avLst>
              <a:gd name="adj" fmla="val 13158"/>
            </a:avLst>
          </a:prstGeom>
          <a:solidFill>
            <a:srgbClr val="F5871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234440" y="20116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Basis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331720" y="201168"/>
            <a:ext cx="640080" cy="292608"/>
          </a:xfrm>
          <a:prstGeom prst="rect">
            <a:avLst/>
          </a:prstGeom>
          <a:solidFill>
            <a:srgbClr val="64748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658368"/>
            <a:ext cx="11521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2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Prévoyez votre propre nom de domaine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20040" y="1664208"/>
            <a:ext cx="11521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Utilisez votre propre nom de domaine vérifié pour votre identité numérique.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2606040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Correspondance Microsoft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2907792"/>
            <a:ext cx="11521440" cy="0"/>
          </a:xfrm>
          <a:prstGeom prst="line">
            <a:avLst/>
          </a:prstGeom>
          <a:noFill/>
          <a:ln w="6350">
            <a:solidFill>
              <a:srgbClr val="E3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2999232"/>
            <a:ext cx="11411712" cy="822960"/>
          </a:xfrm>
          <a:prstGeom prst="roundRect">
            <a:avLst>
              <a:gd name="adj" fmla="val 6667"/>
            </a:avLst>
          </a:prstGeom>
          <a:solidFill>
            <a:srgbClr val="F2F5FA"/>
          </a:solidFill>
          <a:ln w="6350">
            <a:solidFill>
              <a:srgbClr val="E3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3063240"/>
            <a:ext cx="11228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2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365 — Add a custom domain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548872" y="3063240"/>
            <a:ext cx="256032" cy="201168"/>
          </a:xfrm>
          <a:prstGeom prst="rect">
            <a:avLst/>
          </a:prstGeom>
          <a:solidFill>
            <a:srgbClr val="64748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A1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1430000" y="649224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T1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EA5A3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82880"/>
            <a:ext cx="822960" cy="347472"/>
          </a:xfrm>
          <a:prstGeom prst="roundRect">
            <a:avLst>
              <a:gd name="adj" fmla="val 13158"/>
            </a:avLst>
          </a:prstGeom>
          <a:solidFill>
            <a:srgbClr val="0EA5A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O11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234440" y="20116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Basis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331720" y="201168"/>
            <a:ext cx="640080" cy="292608"/>
          </a:xfrm>
          <a:prstGeom prst="rect">
            <a:avLst/>
          </a:prstGeom>
          <a:solidFill>
            <a:srgbClr val="64748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658368"/>
            <a:ext cx="11521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2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Utilisez des adresses e-mail liées au domaine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20040" y="1664208"/>
            <a:ext cx="11521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Attribuez au personnel et aux élèves des adresses e-mail sur votre propre domaine.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2606040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Correspondance Microsoft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2907792"/>
            <a:ext cx="11521440" cy="0"/>
          </a:xfrm>
          <a:prstGeom prst="line">
            <a:avLst/>
          </a:prstGeom>
          <a:noFill/>
          <a:ln w="6350">
            <a:solidFill>
              <a:srgbClr val="E3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2999232"/>
            <a:ext cx="11411712" cy="822960"/>
          </a:xfrm>
          <a:prstGeom prst="roundRect">
            <a:avLst>
              <a:gd name="adj" fmla="val 6667"/>
            </a:avLst>
          </a:prstGeom>
          <a:solidFill>
            <a:srgbClr val="F2F5FA"/>
          </a:solidFill>
          <a:ln w="6350">
            <a:solidFill>
              <a:srgbClr val="E3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3063240"/>
            <a:ext cx="11228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2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Exchange Online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548872" y="3063240"/>
            <a:ext cx="256032" cy="201168"/>
          </a:xfrm>
          <a:prstGeom prst="rect">
            <a:avLst/>
          </a:prstGeom>
          <a:solidFill>
            <a:srgbClr val="64748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A1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1430000" y="649224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O11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EA5A3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82880"/>
            <a:ext cx="822960" cy="347472"/>
          </a:xfrm>
          <a:prstGeom prst="roundRect">
            <a:avLst>
              <a:gd name="adj" fmla="val 13158"/>
            </a:avLst>
          </a:prstGeom>
          <a:solidFill>
            <a:srgbClr val="0EA5A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O12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234440" y="20116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Basis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331720" y="201168"/>
            <a:ext cx="640080" cy="292608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658368"/>
            <a:ext cx="11521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2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Établissez une politique d'autorisation selon le moindre privilège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20040" y="1664208"/>
            <a:ext cx="11521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Accordez l'accès en fonction du besoin d'en connaître et minimisez les privilèges.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2606040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Correspondance Microsoft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2907792"/>
            <a:ext cx="11521440" cy="0"/>
          </a:xfrm>
          <a:prstGeom prst="line">
            <a:avLst/>
          </a:prstGeom>
          <a:noFill/>
          <a:ln w="6350">
            <a:solidFill>
              <a:srgbClr val="E3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2999232"/>
            <a:ext cx="3730752" cy="822960"/>
          </a:xfrm>
          <a:prstGeom prst="roundRect">
            <a:avLst>
              <a:gd name="adj" fmla="val 6667"/>
            </a:avLst>
          </a:prstGeom>
          <a:solidFill>
            <a:srgbClr val="F2F5FA"/>
          </a:solidFill>
          <a:ln w="6350">
            <a:solidFill>
              <a:srgbClr val="E3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3063240"/>
            <a:ext cx="3547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2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Entra ID — RBAC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867912" y="3063240"/>
            <a:ext cx="256032" cy="201168"/>
          </a:xfrm>
          <a:prstGeom prst="rect">
            <a:avLst/>
          </a:prstGeom>
          <a:solidFill>
            <a:srgbClr val="64748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A1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160520" y="2999232"/>
            <a:ext cx="3730752" cy="822960"/>
          </a:xfrm>
          <a:prstGeom prst="roundRect">
            <a:avLst>
              <a:gd name="adj" fmla="val 6667"/>
            </a:avLst>
          </a:prstGeom>
          <a:solidFill>
            <a:srgbClr val="F1E9FF"/>
          </a:solidFill>
          <a:ln w="6350">
            <a:solidFill>
              <a:srgbClr val="C4B5F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51960" y="3063240"/>
            <a:ext cx="3547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2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Privileged Identity Management (PIM)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708392" y="3063240"/>
            <a:ext cx="256032" cy="201168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A5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8001000" y="2999232"/>
            <a:ext cx="3730752" cy="822960"/>
          </a:xfrm>
          <a:prstGeom prst="roundRect">
            <a:avLst>
              <a:gd name="adj" fmla="val 6667"/>
            </a:avLst>
          </a:prstGeom>
          <a:solidFill>
            <a:srgbClr val="F1E9FF"/>
          </a:solidFill>
          <a:ln w="6350">
            <a:solidFill>
              <a:srgbClr val="C4B5F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92440" y="3063240"/>
            <a:ext cx="3547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2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Entra ID Governance — Access reviews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548872" y="3063240"/>
            <a:ext cx="256032" cy="201168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A5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1430000" y="649224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O12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F5871F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82880"/>
            <a:ext cx="822960" cy="347472"/>
          </a:xfrm>
          <a:prstGeom prst="roundRect">
            <a:avLst>
              <a:gd name="adj" fmla="val 13158"/>
            </a:avLst>
          </a:prstGeom>
          <a:solidFill>
            <a:srgbClr val="F5871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234440" y="20116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Basis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331720" y="201168"/>
            <a:ext cx="640080" cy="292608"/>
          </a:xfrm>
          <a:prstGeom prst="rect">
            <a:avLst/>
          </a:prstGeom>
          <a:solidFill>
            <a:srgbClr val="2F6DF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658368"/>
            <a:ext cx="11521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2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Sécurisez l'accès physique aux appareils et informations importants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20040" y="1664208"/>
            <a:ext cx="11521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Protégez les serveurs, les équipements réseau et les informations sensibles contre l'accès physique.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2606040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Correspondance Microsoft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2907792"/>
            <a:ext cx="11521440" cy="0"/>
          </a:xfrm>
          <a:prstGeom prst="line">
            <a:avLst/>
          </a:prstGeom>
          <a:noFill/>
          <a:ln w="6350">
            <a:solidFill>
              <a:srgbClr val="E3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2999232"/>
            <a:ext cx="11411712" cy="822960"/>
          </a:xfrm>
          <a:prstGeom prst="roundRect">
            <a:avLst>
              <a:gd name="adj" fmla="val 6667"/>
            </a:avLst>
          </a:prstGeom>
          <a:solidFill>
            <a:srgbClr val="F2F5FA"/>
          </a:solidFill>
          <a:ln w="6350">
            <a:solidFill>
              <a:srgbClr val="E3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3063240"/>
            <a:ext cx="11228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2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BitLocker via Intune (device encryption)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548872" y="3063240"/>
            <a:ext cx="256032" cy="201168"/>
          </a:xfrm>
          <a:prstGeom prst="rect">
            <a:avLst/>
          </a:prstGeom>
          <a:solidFill>
            <a:srgbClr val="2F6DF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A3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1430000" y="649224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T2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EA5A3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82880"/>
            <a:ext cx="822960" cy="347472"/>
          </a:xfrm>
          <a:prstGeom prst="roundRect">
            <a:avLst>
              <a:gd name="adj" fmla="val 13158"/>
            </a:avLst>
          </a:prstGeom>
          <a:solidFill>
            <a:srgbClr val="0EA5A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O13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234440" y="20116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Basis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331720" y="201168"/>
            <a:ext cx="640080" cy="292608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658368"/>
            <a:ext cx="11521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2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Établissez une procédure pour les membres du personnel et les élèves entrants et sortants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20040" y="1664208"/>
            <a:ext cx="11521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Gérez l'accès lors de l'arrivée, des changements et du départ (gestion du cycle de vie).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2606040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Correspondance Microsoft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2907792"/>
            <a:ext cx="11521440" cy="0"/>
          </a:xfrm>
          <a:prstGeom prst="line">
            <a:avLst/>
          </a:prstGeom>
          <a:noFill/>
          <a:ln w="6350">
            <a:solidFill>
              <a:srgbClr val="E3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2999232"/>
            <a:ext cx="5650992" cy="822960"/>
          </a:xfrm>
          <a:prstGeom prst="roundRect">
            <a:avLst>
              <a:gd name="adj" fmla="val 6667"/>
            </a:avLst>
          </a:prstGeom>
          <a:solidFill>
            <a:srgbClr val="F1E9FF"/>
          </a:solidFill>
          <a:ln w="6350">
            <a:solidFill>
              <a:srgbClr val="C4B5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3063240"/>
            <a:ext cx="5468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2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Entra ID Governance — Lifecycle Workflows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788152" y="3063240"/>
            <a:ext cx="256032" cy="201168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A5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080760" y="2999232"/>
            <a:ext cx="5650992" cy="822960"/>
          </a:xfrm>
          <a:prstGeom prst="roundRect">
            <a:avLst>
              <a:gd name="adj" fmla="val 6667"/>
            </a:avLst>
          </a:prstGeom>
          <a:solidFill>
            <a:srgbClr val="F2F5FA"/>
          </a:solidFill>
          <a:ln w="6350">
            <a:solidFill>
              <a:srgbClr val="E3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72200" y="3063240"/>
            <a:ext cx="5468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2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Entra ID — Dynamic groups &amp; provisioning (SDS)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548872" y="3063240"/>
            <a:ext cx="256032" cy="201168"/>
          </a:xfrm>
          <a:prstGeom prst="rect">
            <a:avLst/>
          </a:prstGeom>
          <a:solidFill>
            <a:srgbClr val="64748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A1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1430000" y="649224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O13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F5871F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82880"/>
            <a:ext cx="822960" cy="347472"/>
          </a:xfrm>
          <a:prstGeom prst="roundRect">
            <a:avLst>
              <a:gd name="adj" fmla="val 13158"/>
            </a:avLst>
          </a:prstGeom>
          <a:solidFill>
            <a:srgbClr val="F5871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234440" y="20116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Basis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331720" y="201168"/>
            <a:ext cx="640080" cy="292608"/>
          </a:xfrm>
          <a:prstGeom prst="rect">
            <a:avLst/>
          </a:prstGeom>
          <a:solidFill>
            <a:srgbClr val="2F6DF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658368"/>
            <a:ext cx="11521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2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Sécurisez et gérez l'accès à votre réseau sans fil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20040" y="1664208"/>
            <a:ext cx="11521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Gérez l'accès Wi-Fi avec des certificats et des politiques ; évitez les mots de passe partagés.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2606040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Correspondance Microsoft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2907792"/>
            <a:ext cx="11521440" cy="0"/>
          </a:xfrm>
          <a:prstGeom prst="line">
            <a:avLst/>
          </a:prstGeom>
          <a:noFill/>
          <a:ln w="6350">
            <a:solidFill>
              <a:srgbClr val="E3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2999232"/>
            <a:ext cx="11411712" cy="822960"/>
          </a:xfrm>
          <a:prstGeom prst="roundRect">
            <a:avLst>
              <a:gd name="adj" fmla="val 6667"/>
            </a:avLst>
          </a:prstGeom>
          <a:solidFill>
            <a:srgbClr val="F2F5FA"/>
          </a:solidFill>
          <a:ln w="6350">
            <a:solidFill>
              <a:srgbClr val="E3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3063240"/>
            <a:ext cx="11228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2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Intune — Wi-Fi configuration profiles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548872" y="3063240"/>
            <a:ext cx="256032" cy="201168"/>
          </a:xfrm>
          <a:prstGeom prst="rect">
            <a:avLst/>
          </a:prstGeom>
          <a:solidFill>
            <a:srgbClr val="2F6DF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A3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1430000" y="649224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T3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F5871F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82880"/>
            <a:ext cx="822960" cy="347472"/>
          </a:xfrm>
          <a:prstGeom prst="roundRect">
            <a:avLst>
              <a:gd name="adj" fmla="val 13158"/>
            </a:avLst>
          </a:prstGeom>
          <a:solidFill>
            <a:srgbClr val="F5871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234440" y="20116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Basis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331720" y="201168"/>
            <a:ext cx="640080" cy="292608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658368"/>
            <a:ext cx="11521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2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 programmes antivirus, antispyware et autres antimalwares sont installés et à jour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20040" y="1664208"/>
            <a:ext cx="11521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Assurez une protection des terminaux à jour sur tous les appareils.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2606040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Correspondance Microsoft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2907792"/>
            <a:ext cx="11521440" cy="0"/>
          </a:xfrm>
          <a:prstGeom prst="line">
            <a:avLst/>
          </a:prstGeom>
          <a:noFill/>
          <a:ln w="6350">
            <a:solidFill>
              <a:srgbClr val="E3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2999232"/>
            <a:ext cx="5650992" cy="822960"/>
          </a:xfrm>
          <a:prstGeom prst="roundRect">
            <a:avLst>
              <a:gd name="adj" fmla="val 6667"/>
            </a:avLst>
          </a:prstGeom>
          <a:solidFill>
            <a:srgbClr val="F2F5FA"/>
          </a:solidFill>
          <a:ln w="6350">
            <a:solidFill>
              <a:srgbClr val="E3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3063240"/>
            <a:ext cx="5468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2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Defender Antivirus (via Intune)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788152" y="3063240"/>
            <a:ext cx="256032" cy="201168"/>
          </a:xfrm>
          <a:prstGeom prst="rect">
            <a:avLst/>
          </a:prstGeom>
          <a:solidFill>
            <a:srgbClr val="2F6DF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A3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080760" y="2999232"/>
            <a:ext cx="5650992" cy="822960"/>
          </a:xfrm>
          <a:prstGeom prst="roundRect">
            <a:avLst>
              <a:gd name="adj" fmla="val 6667"/>
            </a:avLst>
          </a:prstGeom>
          <a:solidFill>
            <a:srgbClr val="F1E9FF"/>
          </a:solidFill>
          <a:ln w="6350">
            <a:solidFill>
              <a:srgbClr val="C4B5F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72200" y="3063240"/>
            <a:ext cx="5468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2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Defender for Endpoint Plan 2 (EDR)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548872" y="3063240"/>
            <a:ext cx="256032" cy="201168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A5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1430000" y="649224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T4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F5871F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82880"/>
            <a:ext cx="822960" cy="347472"/>
          </a:xfrm>
          <a:prstGeom prst="roundRect">
            <a:avLst>
              <a:gd name="adj" fmla="val 13158"/>
            </a:avLst>
          </a:prstGeom>
          <a:solidFill>
            <a:srgbClr val="F5871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234440" y="20116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Basis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331720" y="201168"/>
            <a:ext cx="640080" cy="292608"/>
          </a:xfrm>
          <a:prstGeom prst="rect">
            <a:avLst/>
          </a:prstGeom>
          <a:solidFill>
            <a:srgbClr val="2F6DF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658368"/>
            <a:ext cx="11521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2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Effectuez les mises à jour de sécurité pour toutes les applications et tous les appareils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20040" y="1664208"/>
            <a:ext cx="11521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Maintenez les systèmes d'exploitation et les applications à jour grâce à une politique de correctifs.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2606040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Correspondance Microsoft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2907792"/>
            <a:ext cx="11521440" cy="0"/>
          </a:xfrm>
          <a:prstGeom prst="line">
            <a:avLst/>
          </a:prstGeom>
          <a:noFill/>
          <a:ln w="6350">
            <a:solidFill>
              <a:srgbClr val="E3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2999232"/>
            <a:ext cx="11411712" cy="822960"/>
          </a:xfrm>
          <a:prstGeom prst="roundRect">
            <a:avLst>
              <a:gd name="adj" fmla="val 6667"/>
            </a:avLst>
          </a:prstGeom>
          <a:solidFill>
            <a:srgbClr val="F2F5FA"/>
          </a:solidFill>
          <a:ln w="6350">
            <a:solidFill>
              <a:srgbClr val="E3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3063240"/>
            <a:ext cx="11228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2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Intune — Windows Update for Business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548872" y="3063240"/>
            <a:ext cx="256032" cy="201168"/>
          </a:xfrm>
          <a:prstGeom prst="rect">
            <a:avLst/>
          </a:prstGeom>
          <a:solidFill>
            <a:srgbClr val="2F6DF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A3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1430000" y="649224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T5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EA5A3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82880"/>
            <a:ext cx="822960" cy="347472"/>
          </a:xfrm>
          <a:prstGeom prst="roundRect">
            <a:avLst>
              <a:gd name="adj" fmla="val 13158"/>
            </a:avLst>
          </a:prstGeom>
          <a:solidFill>
            <a:srgbClr val="0EA5A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O14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234440" y="20116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Basis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331720" y="201168"/>
            <a:ext cx="640080" cy="292608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658368"/>
            <a:ext cx="11521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2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Signalez les fuites de données selon une procédure établie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20040" y="1664208"/>
            <a:ext cx="11521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Détectez, examinez et signalez les fuites de données dans le délai légal.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2606040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Correspondance Microsoft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2907792"/>
            <a:ext cx="11521440" cy="0"/>
          </a:xfrm>
          <a:prstGeom prst="line">
            <a:avLst/>
          </a:prstGeom>
          <a:noFill/>
          <a:ln w="6350">
            <a:solidFill>
              <a:srgbClr val="E3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2999232"/>
            <a:ext cx="5650992" cy="822960"/>
          </a:xfrm>
          <a:prstGeom prst="roundRect">
            <a:avLst>
              <a:gd name="adj" fmla="val 6667"/>
            </a:avLst>
          </a:prstGeom>
          <a:solidFill>
            <a:srgbClr val="F1E9FF"/>
          </a:solidFill>
          <a:ln w="6350">
            <a:solidFill>
              <a:srgbClr val="C4B5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3063240"/>
            <a:ext cx="5468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2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Defender XDR — Incidents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788152" y="3063240"/>
            <a:ext cx="256032" cy="201168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A5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080760" y="2999232"/>
            <a:ext cx="5650992" cy="822960"/>
          </a:xfrm>
          <a:prstGeom prst="roundRect">
            <a:avLst>
              <a:gd name="adj" fmla="val 6667"/>
            </a:avLst>
          </a:prstGeom>
          <a:solidFill>
            <a:srgbClr val="F2F5FA"/>
          </a:solidFill>
          <a:ln w="6350">
            <a:solidFill>
              <a:srgbClr val="E3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72200" y="3063240"/>
            <a:ext cx="5468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2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Purview — Audit (Standard)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548872" y="3063240"/>
            <a:ext cx="256032" cy="201168"/>
          </a:xfrm>
          <a:prstGeom prst="rect">
            <a:avLst/>
          </a:prstGeom>
          <a:solidFill>
            <a:srgbClr val="2F6DF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A3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1430000" y="649224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O14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EA5A3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82880"/>
            <a:ext cx="822960" cy="347472"/>
          </a:xfrm>
          <a:prstGeom prst="roundRect">
            <a:avLst>
              <a:gd name="adj" fmla="val 13158"/>
            </a:avLst>
          </a:prstGeom>
          <a:solidFill>
            <a:srgbClr val="0EA5A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O9.2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234440" y="20116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Basis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331720" y="201168"/>
            <a:ext cx="640080" cy="292608"/>
          </a:xfrm>
          <a:prstGeom prst="rect">
            <a:avLst/>
          </a:prstGeom>
          <a:solidFill>
            <a:srgbClr val="2F6DF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658368"/>
            <a:ext cx="11521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2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Ancrez la politique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20040" y="1664208"/>
            <a:ext cx="11521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Ancrez la politique de manière structurelle dans l'organisation, renforcée à chaque niveau Basis.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2606040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Correspondance Microsoft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2907792"/>
            <a:ext cx="11521440" cy="0"/>
          </a:xfrm>
          <a:prstGeom prst="line">
            <a:avLst/>
          </a:prstGeom>
          <a:noFill/>
          <a:ln w="6350">
            <a:solidFill>
              <a:srgbClr val="E3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2999232"/>
            <a:ext cx="11411712" cy="822960"/>
          </a:xfrm>
          <a:prstGeom prst="roundRect">
            <a:avLst>
              <a:gd name="adj" fmla="val 6667"/>
            </a:avLst>
          </a:prstGeom>
          <a:solidFill>
            <a:srgbClr val="F2F5FA"/>
          </a:solidFill>
          <a:ln w="6350">
            <a:solidFill>
              <a:srgbClr val="E3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3063240"/>
            <a:ext cx="11228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2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Purview Compliance Manager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548872" y="3063240"/>
            <a:ext cx="256032" cy="201168"/>
          </a:xfrm>
          <a:prstGeom prst="rect">
            <a:avLst/>
          </a:prstGeom>
          <a:solidFill>
            <a:srgbClr val="2F6DF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A3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1430000" y="649224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O9.2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EA5A3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82880"/>
            <a:ext cx="822960" cy="347472"/>
          </a:xfrm>
          <a:prstGeom prst="roundRect">
            <a:avLst>
              <a:gd name="adj" fmla="val 13158"/>
            </a:avLst>
          </a:prstGeom>
          <a:solidFill>
            <a:srgbClr val="0EA5A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O10.2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234440" y="20116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Basis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331720" y="201168"/>
            <a:ext cx="640080" cy="292608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658368"/>
            <a:ext cx="11521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2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Proposez de la formation, de l’entraînement et de la sensibilisation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20040" y="1664208"/>
            <a:ext cx="11521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Formez en continu le personnel et les élèves à un comportement sûr et soucieux de la vie privée.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2606040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Correspondance Microsoft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2907792"/>
            <a:ext cx="11521440" cy="0"/>
          </a:xfrm>
          <a:prstGeom prst="line">
            <a:avLst/>
          </a:prstGeom>
          <a:noFill/>
          <a:ln w="6350">
            <a:solidFill>
              <a:srgbClr val="E3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2999232"/>
            <a:ext cx="5650992" cy="822960"/>
          </a:xfrm>
          <a:prstGeom prst="roundRect">
            <a:avLst>
              <a:gd name="adj" fmla="val 6667"/>
            </a:avLst>
          </a:prstGeom>
          <a:solidFill>
            <a:srgbClr val="F1E9FF"/>
          </a:solidFill>
          <a:ln w="6350">
            <a:solidFill>
              <a:srgbClr val="C4B5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3063240"/>
            <a:ext cx="5468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2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Attack Simulation Training (Defender for Office 365)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788152" y="3063240"/>
            <a:ext cx="256032" cy="201168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A5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080760" y="2999232"/>
            <a:ext cx="5650992" cy="822960"/>
          </a:xfrm>
          <a:prstGeom prst="roundRect">
            <a:avLst>
              <a:gd name="adj" fmla="val 6667"/>
            </a:avLst>
          </a:prstGeom>
          <a:solidFill>
            <a:srgbClr val="F2F5FA"/>
          </a:solidFill>
          <a:ln w="6350">
            <a:solidFill>
              <a:srgbClr val="E3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72200" y="3063240"/>
            <a:ext cx="5468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2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Viva Learning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548872" y="3063240"/>
            <a:ext cx="256032" cy="201168"/>
          </a:xfrm>
          <a:prstGeom prst="rect">
            <a:avLst/>
          </a:prstGeom>
          <a:solidFill>
            <a:srgbClr val="64748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A1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1430000" y="649224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O10.2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EA5A3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82880"/>
            <a:ext cx="822960" cy="347472"/>
          </a:xfrm>
          <a:prstGeom prst="roundRect">
            <a:avLst>
              <a:gd name="adj" fmla="val 13158"/>
            </a:avLst>
          </a:prstGeom>
          <a:solidFill>
            <a:srgbClr val="0EA5A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O15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234440" y="20116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Basis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331720" y="201168"/>
            <a:ext cx="640080" cy="292608"/>
          </a:xfrm>
          <a:prstGeom prst="rect">
            <a:avLst/>
          </a:prstGeom>
          <a:solidFill>
            <a:srgbClr val="2F6DF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658368"/>
            <a:ext cx="11521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2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Évaluez les traitements de données, définissez le rôle de l'établissement et assurez des accords avec les tiers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20040" y="1664208"/>
            <a:ext cx="11521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Déterminez les rôles de traitement et concluez des accords de traitement avec les fournisseurs.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2606040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Correspondance Microsoft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2907792"/>
            <a:ext cx="11521440" cy="0"/>
          </a:xfrm>
          <a:prstGeom prst="line">
            <a:avLst/>
          </a:prstGeom>
          <a:noFill/>
          <a:ln w="6350">
            <a:solidFill>
              <a:srgbClr val="E3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2999232"/>
            <a:ext cx="5650992" cy="822960"/>
          </a:xfrm>
          <a:prstGeom prst="roundRect">
            <a:avLst>
              <a:gd name="adj" fmla="val 6667"/>
            </a:avLst>
          </a:prstGeom>
          <a:solidFill>
            <a:srgbClr val="F2F5FA"/>
          </a:solidFill>
          <a:ln w="6350">
            <a:solidFill>
              <a:srgbClr val="E3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3063240"/>
            <a:ext cx="5468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2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Service Trust Portal — DPA / contracts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788152" y="3063240"/>
            <a:ext cx="256032" cy="201168"/>
          </a:xfrm>
          <a:prstGeom prst="rect">
            <a:avLst/>
          </a:prstGeom>
          <a:solidFill>
            <a:srgbClr val="64748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A1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080760" y="2999232"/>
            <a:ext cx="5650992" cy="822960"/>
          </a:xfrm>
          <a:prstGeom prst="roundRect">
            <a:avLst>
              <a:gd name="adj" fmla="val 6667"/>
            </a:avLst>
          </a:prstGeom>
          <a:solidFill>
            <a:srgbClr val="F2F5FA"/>
          </a:solidFill>
          <a:ln w="6350">
            <a:solidFill>
              <a:srgbClr val="E3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72200" y="3063240"/>
            <a:ext cx="5468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2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Purview Compliance Manager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548872" y="3063240"/>
            <a:ext cx="256032" cy="201168"/>
          </a:xfrm>
          <a:prstGeom prst="rect">
            <a:avLst/>
          </a:prstGeom>
          <a:solidFill>
            <a:srgbClr val="2F6DF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A3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1430000" y="649224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O15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EA5A3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82880"/>
            <a:ext cx="822960" cy="347472"/>
          </a:xfrm>
          <a:prstGeom prst="roundRect">
            <a:avLst>
              <a:gd name="adj" fmla="val 13158"/>
            </a:avLst>
          </a:prstGeom>
          <a:solidFill>
            <a:srgbClr val="0EA5A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O16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234440" y="20116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Basis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331720" y="201168"/>
            <a:ext cx="640080" cy="292608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658368"/>
            <a:ext cx="11521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2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Priorisez vos actifs selon la classification, la criticité et la valeur métier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20040" y="1664208"/>
            <a:ext cx="11521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Classifiez l'information et établissez les priorités en fonction de la valeur et du risque.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2606040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Correspondance Microsoft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2907792"/>
            <a:ext cx="11521440" cy="0"/>
          </a:xfrm>
          <a:prstGeom prst="line">
            <a:avLst/>
          </a:prstGeom>
          <a:noFill/>
          <a:ln w="6350">
            <a:solidFill>
              <a:srgbClr val="E3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2999232"/>
            <a:ext cx="11411712" cy="822960"/>
          </a:xfrm>
          <a:prstGeom prst="roundRect">
            <a:avLst>
              <a:gd name="adj" fmla="val 6667"/>
            </a:avLst>
          </a:prstGeom>
          <a:solidFill>
            <a:srgbClr val="F1E9FF"/>
          </a:solidFill>
          <a:ln w="6350">
            <a:solidFill>
              <a:srgbClr val="C4B5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3063240"/>
            <a:ext cx="11228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2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Purview Information Protection — Sensitivity labels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548872" y="3063240"/>
            <a:ext cx="256032" cy="201168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A5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1430000" y="649224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O16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F5871F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82880"/>
            <a:ext cx="822960" cy="347472"/>
          </a:xfrm>
          <a:prstGeom prst="roundRect">
            <a:avLst>
              <a:gd name="adj" fmla="val 13158"/>
            </a:avLst>
          </a:prstGeom>
          <a:solidFill>
            <a:srgbClr val="F5871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234440" y="20116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Basis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331720" y="201168"/>
            <a:ext cx="640080" cy="292608"/>
          </a:xfrm>
          <a:prstGeom prst="rect">
            <a:avLst/>
          </a:prstGeom>
          <a:solidFill>
            <a:srgbClr val="2F6DF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658368"/>
            <a:ext cx="11521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2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Établissez une procédure de sauvegarde pour les données, applications et appareils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20040" y="1664208"/>
            <a:ext cx="11521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Prévoyez des sauvegardes fiables ; attention à la différence entre rétention et véritable sauvegarde.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2606040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Correspondance Microsoft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2907792"/>
            <a:ext cx="11521440" cy="0"/>
          </a:xfrm>
          <a:prstGeom prst="line">
            <a:avLst/>
          </a:prstGeom>
          <a:noFill/>
          <a:ln w="6350">
            <a:solidFill>
              <a:srgbClr val="E3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2999232"/>
            <a:ext cx="5650992" cy="822960"/>
          </a:xfrm>
          <a:prstGeom prst="roundRect">
            <a:avLst>
              <a:gd name="adj" fmla="val 6667"/>
            </a:avLst>
          </a:prstGeom>
          <a:solidFill>
            <a:srgbClr val="F2F5FA"/>
          </a:solidFill>
          <a:ln w="6350">
            <a:solidFill>
              <a:srgbClr val="E3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3063240"/>
            <a:ext cx="5468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2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Purview — Data Lifecycle Management (retention)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788152" y="3063240"/>
            <a:ext cx="256032" cy="201168"/>
          </a:xfrm>
          <a:prstGeom prst="rect">
            <a:avLst/>
          </a:prstGeom>
          <a:solidFill>
            <a:srgbClr val="2F6DF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A3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080760" y="2999232"/>
            <a:ext cx="5650992" cy="822960"/>
          </a:xfrm>
          <a:prstGeom prst="roundRect">
            <a:avLst>
              <a:gd name="adj" fmla="val 6667"/>
            </a:avLst>
          </a:prstGeom>
          <a:solidFill>
            <a:srgbClr val="F2F5FA"/>
          </a:solidFill>
          <a:ln w="6350">
            <a:solidFill>
              <a:srgbClr val="E3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72200" y="3063240"/>
            <a:ext cx="5468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2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SharePoint/OneDrive retention &amp; versioning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548872" y="3063240"/>
            <a:ext cx="256032" cy="201168"/>
          </a:xfrm>
          <a:prstGeom prst="rect">
            <a:avLst/>
          </a:prstGeom>
          <a:solidFill>
            <a:srgbClr val="64748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A1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1430000" y="649224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T6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F5871F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82880"/>
            <a:ext cx="822960" cy="347472"/>
          </a:xfrm>
          <a:prstGeom prst="roundRect">
            <a:avLst>
              <a:gd name="adj" fmla="val 13158"/>
            </a:avLst>
          </a:prstGeom>
          <a:solidFill>
            <a:srgbClr val="F5871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T7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234440" y="20116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Basis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331720" y="201168"/>
            <a:ext cx="640080" cy="292608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658368"/>
            <a:ext cx="11521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2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Assurez un accès sécurisé à votre réseau à distance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20040" y="1664208"/>
            <a:ext cx="11521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Sécurisez l'accès à distance avec des contrôles modernes basés sur l'identité.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2606040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Correspondance Microsoft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2907792"/>
            <a:ext cx="11521440" cy="0"/>
          </a:xfrm>
          <a:prstGeom prst="line">
            <a:avLst/>
          </a:prstGeom>
          <a:noFill/>
          <a:ln w="6350">
            <a:solidFill>
              <a:srgbClr val="E3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2999232"/>
            <a:ext cx="5650992" cy="822960"/>
          </a:xfrm>
          <a:prstGeom prst="roundRect">
            <a:avLst>
              <a:gd name="adj" fmla="val 6667"/>
            </a:avLst>
          </a:prstGeom>
          <a:solidFill>
            <a:srgbClr val="F1E9FF"/>
          </a:solidFill>
          <a:ln w="6350">
            <a:solidFill>
              <a:srgbClr val="C4B5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3063240"/>
            <a:ext cx="5468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2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Entra Private Access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788152" y="3063240"/>
            <a:ext cx="256032" cy="201168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A5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080760" y="2999232"/>
            <a:ext cx="5650992" cy="822960"/>
          </a:xfrm>
          <a:prstGeom prst="roundRect">
            <a:avLst>
              <a:gd name="adj" fmla="val 6667"/>
            </a:avLst>
          </a:prstGeom>
          <a:solidFill>
            <a:srgbClr val="F2F5FA"/>
          </a:solidFill>
          <a:ln w="6350">
            <a:solidFill>
              <a:srgbClr val="E3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72200" y="3063240"/>
            <a:ext cx="5468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2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Conditional Access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548872" y="3063240"/>
            <a:ext cx="256032" cy="201168"/>
          </a:xfrm>
          <a:prstGeom prst="rect">
            <a:avLst/>
          </a:prstGeom>
          <a:solidFill>
            <a:srgbClr val="2F6DF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A3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1430000" y="649224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T7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F5871F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82880"/>
            <a:ext cx="822960" cy="347472"/>
          </a:xfrm>
          <a:prstGeom prst="roundRect">
            <a:avLst>
              <a:gd name="adj" fmla="val 13158"/>
            </a:avLst>
          </a:prstGeom>
          <a:solidFill>
            <a:srgbClr val="F5871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T8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234440" y="20116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Basis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331720" y="201168"/>
            <a:ext cx="640080" cy="292608"/>
          </a:xfrm>
          <a:prstGeom prst="rect">
            <a:avLst/>
          </a:prstGeom>
          <a:solidFill>
            <a:srgbClr val="2F6DF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658368"/>
            <a:ext cx="11521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2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Installez des pare-feux adaptés à votre école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20040" y="1664208"/>
            <a:ext cx="11521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Gérez les pare-feux hôtes et réseau adaptés aux besoins de l'école.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2606040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Correspondance Microsoft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2907792"/>
            <a:ext cx="11521440" cy="0"/>
          </a:xfrm>
          <a:prstGeom prst="line">
            <a:avLst/>
          </a:prstGeom>
          <a:noFill/>
          <a:ln w="6350">
            <a:solidFill>
              <a:srgbClr val="E3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2999232"/>
            <a:ext cx="11411712" cy="822960"/>
          </a:xfrm>
          <a:prstGeom prst="roundRect">
            <a:avLst>
              <a:gd name="adj" fmla="val 6667"/>
            </a:avLst>
          </a:prstGeom>
          <a:solidFill>
            <a:srgbClr val="F2F5FA"/>
          </a:solidFill>
          <a:ln w="6350">
            <a:solidFill>
              <a:srgbClr val="E3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3063240"/>
            <a:ext cx="11228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2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Intune — Microsoft Defender Firewall policy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548872" y="3063240"/>
            <a:ext cx="256032" cy="201168"/>
          </a:xfrm>
          <a:prstGeom prst="rect">
            <a:avLst/>
          </a:prstGeom>
          <a:solidFill>
            <a:srgbClr val="2F6DF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A3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1430000" y="649224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T8</a:t>
            </a:r>
            <a:endParaRPr lang="en-US" sz="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F5871F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82880"/>
            <a:ext cx="822960" cy="347472"/>
          </a:xfrm>
          <a:prstGeom prst="roundRect">
            <a:avLst>
              <a:gd name="adj" fmla="val 13158"/>
            </a:avLst>
          </a:prstGeom>
          <a:solidFill>
            <a:srgbClr val="F5871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T9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234440" y="20116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Basis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331720" y="201168"/>
            <a:ext cx="640080" cy="292608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658368"/>
            <a:ext cx="11521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2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Installez des filtres web et e-mail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20040" y="1664208"/>
            <a:ext cx="11521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Filtrez les sites web et e-mails malveillants grâce à une protection avancée.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2606040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Correspondance Microsoft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2907792"/>
            <a:ext cx="11521440" cy="0"/>
          </a:xfrm>
          <a:prstGeom prst="line">
            <a:avLst/>
          </a:prstGeom>
          <a:noFill/>
          <a:ln w="6350">
            <a:solidFill>
              <a:srgbClr val="E3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2999232"/>
            <a:ext cx="5650992" cy="822960"/>
          </a:xfrm>
          <a:prstGeom prst="roundRect">
            <a:avLst>
              <a:gd name="adj" fmla="val 6667"/>
            </a:avLst>
          </a:prstGeom>
          <a:solidFill>
            <a:srgbClr val="F1E9FF"/>
          </a:solidFill>
          <a:ln w="6350">
            <a:solidFill>
              <a:srgbClr val="C4B5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3063240"/>
            <a:ext cx="5468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2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Defender for Office 365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788152" y="3063240"/>
            <a:ext cx="256032" cy="201168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A5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080760" y="2999232"/>
            <a:ext cx="5650992" cy="822960"/>
          </a:xfrm>
          <a:prstGeom prst="roundRect">
            <a:avLst>
              <a:gd name="adj" fmla="val 6667"/>
            </a:avLst>
          </a:prstGeom>
          <a:solidFill>
            <a:srgbClr val="F2F5FA"/>
          </a:solidFill>
          <a:ln w="6350">
            <a:solidFill>
              <a:srgbClr val="E3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72200" y="3063240"/>
            <a:ext cx="5468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2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Defender SmartScreen / Web content filtering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548872" y="3063240"/>
            <a:ext cx="256032" cy="201168"/>
          </a:xfrm>
          <a:prstGeom prst="rect">
            <a:avLst/>
          </a:prstGeom>
          <a:solidFill>
            <a:srgbClr val="2F6DF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A3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1430000" y="649224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T9</a:t>
            </a:r>
            <a:endParaRPr lang="en-US" sz="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EA5A3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82880"/>
            <a:ext cx="822960" cy="347472"/>
          </a:xfrm>
          <a:prstGeom prst="roundRect">
            <a:avLst>
              <a:gd name="adj" fmla="val 13158"/>
            </a:avLst>
          </a:prstGeom>
          <a:solidFill>
            <a:srgbClr val="0EA5A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O17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234440" y="20116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Basis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331720" y="201168"/>
            <a:ext cx="640080" cy="292608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658368"/>
            <a:ext cx="11521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2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Identifiez les processus traitant des données à caractère personnel ou confidentielles et désignez un propriétaire de processus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20040" y="1664208"/>
            <a:ext cx="11521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Cartographiez les activités de traitement de données et désignez des responsables.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2606040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Correspondance Microsoft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2907792"/>
            <a:ext cx="11521440" cy="0"/>
          </a:xfrm>
          <a:prstGeom prst="line">
            <a:avLst/>
          </a:prstGeom>
          <a:noFill/>
          <a:ln w="6350">
            <a:solidFill>
              <a:srgbClr val="E3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2999232"/>
            <a:ext cx="5650992" cy="822960"/>
          </a:xfrm>
          <a:prstGeom prst="roundRect">
            <a:avLst>
              <a:gd name="adj" fmla="val 6667"/>
            </a:avLst>
          </a:prstGeom>
          <a:solidFill>
            <a:srgbClr val="F1E9FF"/>
          </a:solidFill>
          <a:ln w="6350">
            <a:solidFill>
              <a:srgbClr val="C4B5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3063240"/>
            <a:ext cx="5468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2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Purview — Data Map &amp; data discovery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788152" y="3063240"/>
            <a:ext cx="256032" cy="201168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A5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080760" y="2999232"/>
            <a:ext cx="5650992" cy="822960"/>
          </a:xfrm>
          <a:prstGeom prst="roundRect">
            <a:avLst>
              <a:gd name="adj" fmla="val 6667"/>
            </a:avLst>
          </a:prstGeom>
          <a:solidFill>
            <a:srgbClr val="F1E9FF"/>
          </a:solidFill>
          <a:ln w="6350">
            <a:solidFill>
              <a:srgbClr val="C4B5F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72200" y="3063240"/>
            <a:ext cx="5468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2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Content explorer / Activity explorer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548872" y="3063240"/>
            <a:ext cx="256032" cy="201168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A5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1430000" y="649224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O17</a:t>
            </a:r>
            <a:endParaRPr lang="en-US" sz="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EA5A3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82880"/>
            <a:ext cx="822960" cy="347472"/>
          </a:xfrm>
          <a:prstGeom prst="roundRect">
            <a:avLst>
              <a:gd name="adj" fmla="val 13158"/>
            </a:avLst>
          </a:prstGeom>
          <a:solidFill>
            <a:srgbClr val="0EA5A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O18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234440" y="20116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Basis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331720" y="201168"/>
            <a:ext cx="640080" cy="292608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658368"/>
            <a:ext cx="11521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2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Examinez les menaces et vulnérabilités de vos appareils, applications et procédures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20040" y="1664208"/>
            <a:ext cx="11521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Identifiez et priorisez les vulnérabilités en fonction du risque.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2606040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Correspondance Microsoft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2907792"/>
            <a:ext cx="11521440" cy="0"/>
          </a:xfrm>
          <a:prstGeom prst="line">
            <a:avLst/>
          </a:prstGeom>
          <a:noFill/>
          <a:ln w="6350">
            <a:solidFill>
              <a:srgbClr val="E3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2999232"/>
            <a:ext cx="11411712" cy="822960"/>
          </a:xfrm>
          <a:prstGeom prst="roundRect">
            <a:avLst>
              <a:gd name="adj" fmla="val 6667"/>
            </a:avLst>
          </a:prstGeom>
          <a:solidFill>
            <a:srgbClr val="F1E9FF"/>
          </a:solidFill>
          <a:ln w="6350">
            <a:solidFill>
              <a:srgbClr val="C4B5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3063240"/>
            <a:ext cx="11228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2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Defender Vulnerability Management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548872" y="3063240"/>
            <a:ext cx="256032" cy="201168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A5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1430000" y="649224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O18</a:t>
            </a:r>
            <a:endParaRPr lang="en-US" sz="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EA5A3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82880"/>
            <a:ext cx="822960" cy="347472"/>
          </a:xfrm>
          <a:prstGeom prst="roundRect">
            <a:avLst>
              <a:gd name="adj" fmla="val 13158"/>
            </a:avLst>
          </a:prstGeom>
          <a:solidFill>
            <a:srgbClr val="0EA5A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O9.3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234440" y="20116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Basis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331720" y="201168"/>
            <a:ext cx="640080" cy="292608"/>
          </a:xfrm>
          <a:prstGeom prst="rect">
            <a:avLst/>
          </a:prstGeom>
          <a:solidFill>
            <a:srgbClr val="2F6DF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658368"/>
            <a:ext cx="11521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2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Ancrez la politique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20040" y="1664208"/>
            <a:ext cx="11521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Ancrez la politique de manière structurelle dans l'organisation, renforcée à chaque niveau Basis.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2606040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Correspondance Microsoft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2907792"/>
            <a:ext cx="11521440" cy="0"/>
          </a:xfrm>
          <a:prstGeom prst="line">
            <a:avLst/>
          </a:prstGeom>
          <a:noFill/>
          <a:ln w="6350">
            <a:solidFill>
              <a:srgbClr val="E3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2999232"/>
            <a:ext cx="11411712" cy="822960"/>
          </a:xfrm>
          <a:prstGeom prst="roundRect">
            <a:avLst>
              <a:gd name="adj" fmla="val 6667"/>
            </a:avLst>
          </a:prstGeom>
          <a:solidFill>
            <a:srgbClr val="F2F5FA"/>
          </a:solidFill>
          <a:ln w="6350">
            <a:solidFill>
              <a:srgbClr val="E3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3063240"/>
            <a:ext cx="11228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2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Purview Compliance Manager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548872" y="3063240"/>
            <a:ext cx="256032" cy="201168"/>
          </a:xfrm>
          <a:prstGeom prst="rect">
            <a:avLst/>
          </a:prstGeom>
          <a:solidFill>
            <a:srgbClr val="2F6DF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A3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1430000" y="649224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O9.3</a:t>
            </a:r>
            <a:endParaRPr lang="en-US" sz="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EA5A3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82880"/>
            <a:ext cx="822960" cy="347472"/>
          </a:xfrm>
          <a:prstGeom prst="roundRect">
            <a:avLst>
              <a:gd name="adj" fmla="val 13158"/>
            </a:avLst>
          </a:prstGeom>
          <a:solidFill>
            <a:srgbClr val="0EA5A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O10.3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234440" y="20116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Basis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331720" y="201168"/>
            <a:ext cx="640080" cy="292608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658368"/>
            <a:ext cx="11521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2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Proposez de la formation, de l’entraînement et de la sensibilisation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20040" y="1664208"/>
            <a:ext cx="11521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Formez en continu le personnel et les élèves à un comportement sûr et soucieux de la vie privée.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2606040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Correspondance Microsoft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2907792"/>
            <a:ext cx="11521440" cy="0"/>
          </a:xfrm>
          <a:prstGeom prst="line">
            <a:avLst/>
          </a:prstGeom>
          <a:noFill/>
          <a:ln w="6350">
            <a:solidFill>
              <a:srgbClr val="E3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2999232"/>
            <a:ext cx="5650992" cy="822960"/>
          </a:xfrm>
          <a:prstGeom prst="roundRect">
            <a:avLst>
              <a:gd name="adj" fmla="val 6667"/>
            </a:avLst>
          </a:prstGeom>
          <a:solidFill>
            <a:srgbClr val="F1E9FF"/>
          </a:solidFill>
          <a:ln w="6350">
            <a:solidFill>
              <a:srgbClr val="C4B5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3063240"/>
            <a:ext cx="5468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2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Attack Simulation Training (Defender for Office 365)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788152" y="3063240"/>
            <a:ext cx="256032" cy="201168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A5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080760" y="2999232"/>
            <a:ext cx="5650992" cy="822960"/>
          </a:xfrm>
          <a:prstGeom prst="roundRect">
            <a:avLst>
              <a:gd name="adj" fmla="val 6667"/>
            </a:avLst>
          </a:prstGeom>
          <a:solidFill>
            <a:srgbClr val="F2F5FA"/>
          </a:solidFill>
          <a:ln w="6350">
            <a:solidFill>
              <a:srgbClr val="E3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72200" y="3063240"/>
            <a:ext cx="5468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2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Viva Learning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548872" y="3063240"/>
            <a:ext cx="256032" cy="201168"/>
          </a:xfrm>
          <a:prstGeom prst="rect">
            <a:avLst/>
          </a:prstGeom>
          <a:solidFill>
            <a:srgbClr val="64748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A1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1430000" y="649224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O10.3</a:t>
            </a:r>
            <a:endParaRPr lang="en-US" sz="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EA5A3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82880"/>
            <a:ext cx="822960" cy="347472"/>
          </a:xfrm>
          <a:prstGeom prst="roundRect">
            <a:avLst>
              <a:gd name="adj" fmla="val 13158"/>
            </a:avLst>
          </a:prstGeom>
          <a:solidFill>
            <a:srgbClr val="0EA5A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O19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234440" y="20116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Basis 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331720" y="201168"/>
            <a:ext cx="640080" cy="292608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658368"/>
            <a:ext cx="11521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2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Établissez un registre des traitements et tenez-le à jour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20040" y="1664208"/>
            <a:ext cx="11521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Tenez à jour un registre des activités de traitement (art. 30 RGPD).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2606040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Correspondance Microsoft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2907792"/>
            <a:ext cx="11521440" cy="0"/>
          </a:xfrm>
          <a:prstGeom prst="line">
            <a:avLst/>
          </a:prstGeom>
          <a:noFill/>
          <a:ln w="6350">
            <a:solidFill>
              <a:srgbClr val="E3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2999232"/>
            <a:ext cx="5650992" cy="822960"/>
          </a:xfrm>
          <a:prstGeom prst="roundRect">
            <a:avLst>
              <a:gd name="adj" fmla="val 6667"/>
            </a:avLst>
          </a:prstGeom>
          <a:solidFill>
            <a:srgbClr val="F1E9FF"/>
          </a:solidFill>
          <a:ln w="6350">
            <a:solidFill>
              <a:srgbClr val="C4B5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3063240"/>
            <a:ext cx="5468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2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Priva — Privacy Risk Management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788152" y="3063240"/>
            <a:ext cx="256032" cy="201168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A5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080760" y="2999232"/>
            <a:ext cx="5650992" cy="822960"/>
          </a:xfrm>
          <a:prstGeom prst="roundRect">
            <a:avLst>
              <a:gd name="adj" fmla="val 6667"/>
            </a:avLst>
          </a:prstGeom>
          <a:solidFill>
            <a:srgbClr val="F1E9FF"/>
          </a:solidFill>
          <a:ln w="6350">
            <a:solidFill>
              <a:srgbClr val="C4B5F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72200" y="3063240"/>
            <a:ext cx="5468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2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Purview — Records management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548872" y="3063240"/>
            <a:ext cx="256032" cy="201168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A5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1430000" y="649224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O19</a:t>
            </a:r>
            <a:endParaRPr lang="en-US" sz="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EA5A3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82880"/>
            <a:ext cx="822960" cy="347472"/>
          </a:xfrm>
          <a:prstGeom prst="roundRect">
            <a:avLst>
              <a:gd name="adj" fmla="val 13158"/>
            </a:avLst>
          </a:prstGeom>
          <a:solidFill>
            <a:srgbClr val="0EA5A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O20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234440" y="20116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Basis 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331720" y="201168"/>
            <a:ext cx="640080" cy="292608"/>
          </a:xfrm>
          <a:prstGeom prst="rect">
            <a:avLst/>
          </a:prstGeom>
          <a:solidFill>
            <a:srgbClr val="2F6DF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658368"/>
            <a:ext cx="11521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2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Évaluez toute intention de communiquer des données à caractère personnel à un tiers au regard de la législation applicable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20040" y="1664208"/>
            <a:ext cx="11521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Évaluez les communications à des tiers au regard de la législation en vigueur.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2606040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Correspondance Microsoft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2907792"/>
            <a:ext cx="11521440" cy="0"/>
          </a:xfrm>
          <a:prstGeom prst="line">
            <a:avLst/>
          </a:prstGeom>
          <a:noFill/>
          <a:ln w="6350">
            <a:solidFill>
              <a:srgbClr val="E3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2999232"/>
            <a:ext cx="11411712" cy="822960"/>
          </a:xfrm>
          <a:prstGeom prst="roundRect">
            <a:avLst>
              <a:gd name="adj" fmla="val 6667"/>
            </a:avLst>
          </a:prstGeom>
          <a:solidFill>
            <a:srgbClr val="F2F5FA"/>
          </a:solidFill>
          <a:ln w="6350">
            <a:solidFill>
              <a:srgbClr val="E3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3063240"/>
            <a:ext cx="11228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2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Purview Compliance Manager — Assessments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548872" y="3063240"/>
            <a:ext cx="256032" cy="201168"/>
          </a:xfrm>
          <a:prstGeom prst="rect">
            <a:avLst/>
          </a:prstGeom>
          <a:solidFill>
            <a:srgbClr val="2F6DF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A3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1430000" y="649224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O20</a:t>
            </a:r>
            <a:endParaRPr lang="en-US" sz="8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EA5A3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82880"/>
            <a:ext cx="822960" cy="347472"/>
          </a:xfrm>
          <a:prstGeom prst="roundRect">
            <a:avLst>
              <a:gd name="adj" fmla="val 13158"/>
            </a:avLst>
          </a:prstGeom>
          <a:solidFill>
            <a:srgbClr val="0EA5A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O21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234440" y="20116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Basis 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331720" y="201168"/>
            <a:ext cx="640080" cy="292608"/>
          </a:xfrm>
          <a:prstGeom prst="rect">
            <a:avLst/>
          </a:prstGeom>
          <a:solidFill>
            <a:srgbClr val="2F6DF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658368"/>
            <a:ext cx="11521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2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Établissez une politique de conservation et de destruction des données et des appareils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20040" y="1664208"/>
            <a:ext cx="11521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Définissez des durées de conservation et détruisez les données et appareils en toute sécurité.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2606040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Correspondance Microsoft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2907792"/>
            <a:ext cx="11521440" cy="0"/>
          </a:xfrm>
          <a:prstGeom prst="line">
            <a:avLst/>
          </a:prstGeom>
          <a:noFill/>
          <a:ln w="6350">
            <a:solidFill>
              <a:srgbClr val="E3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2999232"/>
            <a:ext cx="5650992" cy="822960"/>
          </a:xfrm>
          <a:prstGeom prst="roundRect">
            <a:avLst>
              <a:gd name="adj" fmla="val 6667"/>
            </a:avLst>
          </a:prstGeom>
          <a:solidFill>
            <a:srgbClr val="F2F5FA"/>
          </a:solidFill>
          <a:ln w="6350">
            <a:solidFill>
              <a:srgbClr val="E3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3063240"/>
            <a:ext cx="5468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2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Purview — Data Lifecycle Management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788152" y="3063240"/>
            <a:ext cx="256032" cy="201168"/>
          </a:xfrm>
          <a:prstGeom prst="rect">
            <a:avLst/>
          </a:prstGeom>
          <a:solidFill>
            <a:srgbClr val="2F6DF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A3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080760" y="2999232"/>
            <a:ext cx="5650992" cy="822960"/>
          </a:xfrm>
          <a:prstGeom prst="roundRect">
            <a:avLst>
              <a:gd name="adj" fmla="val 6667"/>
            </a:avLst>
          </a:prstGeom>
          <a:solidFill>
            <a:srgbClr val="F2F5FA"/>
          </a:solidFill>
          <a:ln w="6350">
            <a:solidFill>
              <a:srgbClr val="E3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72200" y="3063240"/>
            <a:ext cx="5468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2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Intune — Device wipe / retire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548872" y="3063240"/>
            <a:ext cx="256032" cy="201168"/>
          </a:xfrm>
          <a:prstGeom prst="rect">
            <a:avLst/>
          </a:prstGeom>
          <a:solidFill>
            <a:srgbClr val="2F6DF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A3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1430000" y="649224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O21</a:t>
            </a:r>
            <a:endParaRPr lang="en-US" sz="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F5871F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82880"/>
            <a:ext cx="822960" cy="347472"/>
          </a:xfrm>
          <a:prstGeom prst="roundRect">
            <a:avLst>
              <a:gd name="adj" fmla="val 13158"/>
            </a:avLst>
          </a:prstGeom>
          <a:solidFill>
            <a:srgbClr val="F5871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T10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234440" y="20116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Basis 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331720" y="201168"/>
            <a:ext cx="640080" cy="292608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658368"/>
            <a:ext cx="11521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2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Segmentez votre réseau pour séparer les groupes d’utilisateurs, les données et les appareils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20040" y="1664208"/>
            <a:ext cx="11521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Appliquez la segmentation réseau pour isoler les groupes et les systèmes.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2606040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Correspondance Microsoft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2907792"/>
            <a:ext cx="11521440" cy="0"/>
          </a:xfrm>
          <a:prstGeom prst="line">
            <a:avLst/>
          </a:prstGeom>
          <a:noFill/>
          <a:ln w="6350">
            <a:solidFill>
              <a:srgbClr val="E3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2999232"/>
            <a:ext cx="11411712" cy="822960"/>
          </a:xfrm>
          <a:prstGeom prst="roundRect">
            <a:avLst>
              <a:gd name="adj" fmla="val 6667"/>
            </a:avLst>
          </a:prstGeom>
          <a:solidFill>
            <a:srgbClr val="F1E9FF"/>
          </a:solidFill>
          <a:ln w="6350">
            <a:solidFill>
              <a:srgbClr val="C4B5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3063240"/>
            <a:ext cx="11228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2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Entra — Global Secure Access (segmentation)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548872" y="3063240"/>
            <a:ext cx="256032" cy="201168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A5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1430000" y="649224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T10</a:t>
            </a:r>
            <a:endParaRPr lang="en-US" sz="8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EA5A3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82880"/>
            <a:ext cx="822960" cy="347472"/>
          </a:xfrm>
          <a:prstGeom prst="roundRect">
            <a:avLst>
              <a:gd name="adj" fmla="val 13158"/>
            </a:avLst>
          </a:prstGeom>
          <a:solidFill>
            <a:srgbClr val="0EA5A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O22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234440" y="20116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Basis 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331720" y="201168"/>
            <a:ext cx="640080" cy="292608"/>
          </a:xfrm>
          <a:prstGeom prst="rect">
            <a:avLst/>
          </a:prstGeom>
          <a:solidFill>
            <a:srgbClr val="64748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658368"/>
            <a:ext cx="11521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2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Garantissez un niveau de protection adéquat lors du transfert de données à caractère personnel hors de l'EEE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20040" y="1664208"/>
            <a:ext cx="11521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Assurez des garanties appropriées pour les transferts internationaux de données.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2606040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Correspondance Microsoft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2907792"/>
            <a:ext cx="11521440" cy="0"/>
          </a:xfrm>
          <a:prstGeom prst="line">
            <a:avLst/>
          </a:prstGeom>
          <a:noFill/>
          <a:ln w="6350">
            <a:solidFill>
              <a:srgbClr val="E3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2999232"/>
            <a:ext cx="11411712" cy="822960"/>
          </a:xfrm>
          <a:prstGeom prst="roundRect">
            <a:avLst>
              <a:gd name="adj" fmla="val 6667"/>
            </a:avLst>
          </a:prstGeom>
          <a:solidFill>
            <a:srgbClr val="F2F5FA"/>
          </a:solidFill>
          <a:ln w="6350">
            <a:solidFill>
              <a:srgbClr val="E3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3063240"/>
            <a:ext cx="11228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2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EU Data Boundary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548872" y="3063240"/>
            <a:ext cx="256032" cy="201168"/>
          </a:xfrm>
          <a:prstGeom prst="rect">
            <a:avLst/>
          </a:prstGeom>
          <a:solidFill>
            <a:srgbClr val="64748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A1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1430000" y="649224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O22</a:t>
            </a:r>
            <a:endParaRPr lang="en-US" sz="8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EA5A3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82880"/>
            <a:ext cx="822960" cy="347472"/>
          </a:xfrm>
          <a:prstGeom prst="roundRect">
            <a:avLst>
              <a:gd name="adj" fmla="val 13158"/>
            </a:avLst>
          </a:prstGeom>
          <a:solidFill>
            <a:srgbClr val="0EA5A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O9.4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234440" y="20116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Basis 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331720" y="201168"/>
            <a:ext cx="640080" cy="292608"/>
          </a:xfrm>
          <a:prstGeom prst="rect">
            <a:avLst/>
          </a:prstGeom>
          <a:solidFill>
            <a:srgbClr val="2F6DF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658368"/>
            <a:ext cx="11521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2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Ancrez la politique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20040" y="1664208"/>
            <a:ext cx="11521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Ancrez la politique de manière structurelle dans l'organisation, renforcée à chaque niveau Basis.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2606040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Correspondance Microsoft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2907792"/>
            <a:ext cx="11521440" cy="0"/>
          </a:xfrm>
          <a:prstGeom prst="line">
            <a:avLst/>
          </a:prstGeom>
          <a:noFill/>
          <a:ln w="6350">
            <a:solidFill>
              <a:srgbClr val="E3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2999232"/>
            <a:ext cx="11411712" cy="822960"/>
          </a:xfrm>
          <a:prstGeom prst="roundRect">
            <a:avLst>
              <a:gd name="adj" fmla="val 6667"/>
            </a:avLst>
          </a:prstGeom>
          <a:solidFill>
            <a:srgbClr val="F2F5FA"/>
          </a:solidFill>
          <a:ln w="6350">
            <a:solidFill>
              <a:srgbClr val="E3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3063240"/>
            <a:ext cx="11228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2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Purview Compliance Manager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548872" y="3063240"/>
            <a:ext cx="256032" cy="201168"/>
          </a:xfrm>
          <a:prstGeom prst="rect">
            <a:avLst/>
          </a:prstGeom>
          <a:solidFill>
            <a:srgbClr val="2F6DF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A3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1430000" y="649224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O9.4</a:t>
            </a:r>
            <a:endParaRPr lang="en-US" sz="8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EA5A3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82880"/>
            <a:ext cx="822960" cy="347472"/>
          </a:xfrm>
          <a:prstGeom prst="roundRect">
            <a:avLst>
              <a:gd name="adj" fmla="val 13158"/>
            </a:avLst>
          </a:prstGeom>
          <a:solidFill>
            <a:srgbClr val="0EA5A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O10.4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234440" y="20116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Basis 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331720" y="201168"/>
            <a:ext cx="640080" cy="292608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658368"/>
            <a:ext cx="11521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2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Proposez de la formation, de l’entraînement et de la sensibilisation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20040" y="1664208"/>
            <a:ext cx="11521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Formez en continu le personnel et les élèves à un comportement sûr et soucieux de la vie privée.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2606040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Correspondance Microsoft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2907792"/>
            <a:ext cx="11521440" cy="0"/>
          </a:xfrm>
          <a:prstGeom prst="line">
            <a:avLst/>
          </a:prstGeom>
          <a:noFill/>
          <a:ln w="6350">
            <a:solidFill>
              <a:srgbClr val="E3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2999232"/>
            <a:ext cx="5650992" cy="822960"/>
          </a:xfrm>
          <a:prstGeom prst="roundRect">
            <a:avLst>
              <a:gd name="adj" fmla="val 6667"/>
            </a:avLst>
          </a:prstGeom>
          <a:solidFill>
            <a:srgbClr val="F1E9FF"/>
          </a:solidFill>
          <a:ln w="6350">
            <a:solidFill>
              <a:srgbClr val="C4B5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3063240"/>
            <a:ext cx="5468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2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Attack Simulation Training (Defender for Office 365)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788152" y="3063240"/>
            <a:ext cx="256032" cy="201168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A5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080760" y="2999232"/>
            <a:ext cx="5650992" cy="822960"/>
          </a:xfrm>
          <a:prstGeom prst="roundRect">
            <a:avLst>
              <a:gd name="adj" fmla="val 6667"/>
            </a:avLst>
          </a:prstGeom>
          <a:solidFill>
            <a:srgbClr val="F2F5FA"/>
          </a:solidFill>
          <a:ln w="6350">
            <a:solidFill>
              <a:srgbClr val="E3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72200" y="3063240"/>
            <a:ext cx="5468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2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Viva Learning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548872" y="3063240"/>
            <a:ext cx="256032" cy="201168"/>
          </a:xfrm>
          <a:prstGeom prst="rect">
            <a:avLst/>
          </a:prstGeom>
          <a:solidFill>
            <a:srgbClr val="64748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A1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1430000" y="649224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O10.4</a:t>
            </a:r>
            <a:endParaRPr lang="en-US" sz="8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EA5A3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82880"/>
            <a:ext cx="822960" cy="347472"/>
          </a:xfrm>
          <a:prstGeom prst="roundRect">
            <a:avLst>
              <a:gd name="adj" fmla="val 13158"/>
            </a:avLst>
          </a:prstGeom>
          <a:solidFill>
            <a:srgbClr val="0EA5A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O23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234440" y="20116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Basis 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331720" y="201168"/>
            <a:ext cx="640080" cy="292608"/>
          </a:xfrm>
          <a:prstGeom prst="rect">
            <a:avLst/>
          </a:prstGeom>
          <a:solidFill>
            <a:srgbClr val="2F6DF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658368"/>
            <a:ext cx="11521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2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Réalisez des évaluations des risques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20040" y="1664208"/>
            <a:ext cx="11521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Effectuez des évaluations systématiques des risques et assurez le suivi.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2606040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Correspondance Microsoft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2907792"/>
            <a:ext cx="11521440" cy="0"/>
          </a:xfrm>
          <a:prstGeom prst="line">
            <a:avLst/>
          </a:prstGeom>
          <a:noFill/>
          <a:ln w="6350">
            <a:solidFill>
              <a:srgbClr val="E3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2999232"/>
            <a:ext cx="5650992" cy="822960"/>
          </a:xfrm>
          <a:prstGeom prst="roundRect">
            <a:avLst>
              <a:gd name="adj" fmla="val 6667"/>
            </a:avLst>
          </a:prstGeom>
          <a:solidFill>
            <a:srgbClr val="F2F5FA"/>
          </a:solidFill>
          <a:ln w="6350">
            <a:solidFill>
              <a:srgbClr val="E3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3063240"/>
            <a:ext cx="5468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2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Purview Compliance Manager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788152" y="3063240"/>
            <a:ext cx="256032" cy="201168"/>
          </a:xfrm>
          <a:prstGeom prst="rect">
            <a:avLst/>
          </a:prstGeom>
          <a:solidFill>
            <a:srgbClr val="2F6DF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A3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080760" y="2999232"/>
            <a:ext cx="5650992" cy="822960"/>
          </a:xfrm>
          <a:prstGeom prst="roundRect">
            <a:avLst>
              <a:gd name="adj" fmla="val 6667"/>
            </a:avLst>
          </a:prstGeom>
          <a:solidFill>
            <a:srgbClr val="F2F5FA"/>
          </a:solidFill>
          <a:ln w="6350">
            <a:solidFill>
              <a:srgbClr val="E3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72200" y="3063240"/>
            <a:ext cx="5468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2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Secure Score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548872" y="3063240"/>
            <a:ext cx="256032" cy="201168"/>
          </a:xfrm>
          <a:prstGeom prst="rect">
            <a:avLst/>
          </a:prstGeom>
          <a:solidFill>
            <a:srgbClr val="2F6DF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A3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1430000" y="649224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O23</a:t>
            </a:r>
            <a:endParaRPr lang="en-US" sz="8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EA5A3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82880"/>
            <a:ext cx="822960" cy="347472"/>
          </a:xfrm>
          <a:prstGeom prst="roundRect">
            <a:avLst>
              <a:gd name="adj" fmla="val 13158"/>
            </a:avLst>
          </a:prstGeom>
          <a:solidFill>
            <a:srgbClr val="0EA5A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O24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234440" y="20116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Basis 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331720" y="201168"/>
            <a:ext cx="640080" cy="292608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658368"/>
            <a:ext cx="11521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2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Définissez des exigences pour la conception respectueuse de la vie privée des services, appareils et applications (privacy by default)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20040" y="1664208"/>
            <a:ext cx="11521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Intégrez la protection de la vie privée dès la conception et par défaut dans les achats et le développement.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2606040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Correspondance Microsoft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2907792"/>
            <a:ext cx="11521440" cy="0"/>
          </a:xfrm>
          <a:prstGeom prst="line">
            <a:avLst/>
          </a:prstGeom>
          <a:noFill/>
          <a:ln w="6350">
            <a:solidFill>
              <a:srgbClr val="E3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2999232"/>
            <a:ext cx="11411712" cy="822960"/>
          </a:xfrm>
          <a:prstGeom prst="roundRect">
            <a:avLst>
              <a:gd name="adj" fmla="val 6667"/>
            </a:avLst>
          </a:prstGeom>
          <a:solidFill>
            <a:srgbClr val="F1E9FF"/>
          </a:solidFill>
          <a:ln w="6350">
            <a:solidFill>
              <a:srgbClr val="C4B5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3063240"/>
            <a:ext cx="11228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2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Priva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548872" y="3063240"/>
            <a:ext cx="256032" cy="201168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A5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1430000" y="649224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O24</a:t>
            </a:r>
            <a:endParaRPr lang="en-US" sz="8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F5871F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82880"/>
            <a:ext cx="822960" cy="347472"/>
          </a:xfrm>
          <a:prstGeom prst="roundRect">
            <a:avLst>
              <a:gd name="adj" fmla="val 13158"/>
            </a:avLst>
          </a:prstGeom>
          <a:solidFill>
            <a:srgbClr val="F5871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T11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234440" y="20116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Basis 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331720" y="201168"/>
            <a:ext cx="640080" cy="292608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658368"/>
            <a:ext cx="11521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2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journaux du pare-feu, de l’antivirus, … sont conservés et analysés selon la fréquence de suivi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20040" y="1664208"/>
            <a:ext cx="11521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Conservez et analysez les journaux de sécurité pour la détection et le suivi.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2606040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Correspondance Microsoft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2907792"/>
            <a:ext cx="11521440" cy="0"/>
          </a:xfrm>
          <a:prstGeom prst="line">
            <a:avLst/>
          </a:prstGeom>
          <a:noFill/>
          <a:ln w="6350">
            <a:solidFill>
              <a:srgbClr val="E3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2999232"/>
            <a:ext cx="5650992" cy="822960"/>
          </a:xfrm>
          <a:prstGeom prst="roundRect">
            <a:avLst>
              <a:gd name="adj" fmla="val 6667"/>
            </a:avLst>
          </a:prstGeom>
          <a:solidFill>
            <a:srgbClr val="F1E9FF"/>
          </a:solidFill>
          <a:ln w="6350">
            <a:solidFill>
              <a:srgbClr val="C4B5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3063240"/>
            <a:ext cx="5468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2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Sentinel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788152" y="3063240"/>
            <a:ext cx="256032" cy="201168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A5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080760" y="2999232"/>
            <a:ext cx="5650992" cy="822960"/>
          </a:xfrm>
          <a:prstGeom prst="roundRect">
            <a:avLst>
              <a:gd name="adj" fmla="val 6667"/>
            </a:avLst>
          </a:prstGeom>
          <a:solidFill>
            <a:srgbClr val="F1E9FF"/>
          </a:solidFill>
          <a:ln w="6350">
            <a:solidFill>
              <a:srgbClr val="C4B5F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72200" y="3063240"/>
            <a:ext cx="5468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2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Purview — Audit (Premium)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548872" y="3063240"/>
            <a:ext cx="256032" cy="201168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A5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1430000" y="649224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T11</a:t>
            </a:r>
            <a:endParaRPr lang="en-US" sz="8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F5871F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82880"/>
            <a:ext cx="822960" cy="347472"/>
          </a:xfrm>
          <a:prstGeom prst="roundRect">
            <a:avLst>
              <a:gd name="adj" fmla="val 13158"/>
            </a:avLst>
          </a:prstGeom>
          <a:solidFill>
            <a:srgbClr val="F5871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T12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234440" y="20116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Basis 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331720" y="201168"/>
            <a:ext cx="640080" cy="292608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658368"/>
            <a:ext cx="11521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2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Protégez les données et appareils sensibles par chiffrement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20040" y="1664208"/>
            <a:ext cx="11521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Chiffrez les données au repos et en transit, et appliquez le chiffrement basé sur les étiquettes.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2606040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Correspondance Microsoft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2907792"/>
            <a:ext cx="11521440" cy="0"/>
          </a:xfrm>
          <a:prstGeom prst="line">
            <a:avLst/>
          </a:prstGeom>
          <a:noFill/>
          <a:ln w="6350">
            <a:solidFill>
              <a:srgbClr val="E3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2999232"/>
            <a:ext cx="3730752" cy="822960"/>
          </a:xfrm>
          <a:prstGeom prst="roundRect">
            <a:avLst>
              <a:gd name="adj" fmla="val 6667"/>
            </a:avLst>
          </a:prstGeom>
          <a:solidFill>
            <a:srgbClr val="F2F5FA"/>
          </a:solidFill>
          <a:ln w="6350">
            <a:solidFill>
              <a:srgbClr val="E3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3063240"/>
            <a:ext cx="3547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2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BitLocker via Intune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867912" y="3063240"/>
            <a:ext cx="256032" cy="201168"/>
          </a:xfrm>
          <a:prstGeom prst="rect">
            <a:avLst/>
          </a:prstGeom>
          <a:solidFill>
            <a:srgbClr val="2F6DF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A3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160520" y="2999232"/>
            <a:ext cx="3730752" cy="822960"/>
          </a:xfrm>
          <a:prstGeom prst="roundRect">
            <a:avLst>
              <a:gd name="adj" fmla="val 6667"/>
            </a:avLst>
          </a:prstGeom>
          <a:solidFill>
            <a:srgbClr val="F1E9FF"/>
          </a:solidFill>
          <a:ln w="6350">
            <a:solidFill>
              <a:srgbClr val="C4B5F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51960" y="3063240"/>
            <a:ext cx="3547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2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Purview — Encryption with sensitivity labels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708392" y="3063240"/>
            <a:ext cx="256032" cy="201168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A5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8001000" y="2999232"/>
            <a:ext cx="3730752" cy="822960"/>
          </a:xfrm>
          <a:prstGeom prst="roundRect">
            <a:avLst>
              <a:gd name="adj" fmla="val 6667"/>
            </a:avLst>
          </a:prstGeom>
          <a:solidFill>
            <a:srgbClr val="F1E9FF"/>
          </a:solidFill>
          <a:ln w="6350">
            <a:solidFill>
              <a:srgbClr val="C4B5F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92440" y="3063240"/>
            <a:ext cx="3547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2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Double Key Encryption (DKE)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548872" y="3063240"/>
            <a:ext cx="256032" cy="201168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A5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1430000" y="649224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T12</a:t>
            </a:r>
            <a:endParaRPr lang="en-US" sz="8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F5871F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82880"/>
            <a:ext cx="822960" cy="347472"/>
          </a:xfrm>
          <a:prstGeom prst="roundRect">
            <a:avLst>
              <a:gd name="adj" fmla="val 13158"/>
            </a:avLst>
          </a:prstGeom>
          <a:solidFill>
            <a:srgbClr val="F5871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T13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234440" y="20116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Basis 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331720" y="201168"/>
            <a:ext cx="640080" cy="292608"/>
          </a:xfrm>
          <a:prstGeom prst="rect">
            <a:avLst/>
          </a:prstGeom>
          <a:solidFill>
            <a:srgbClr val="64748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658368"/>
            <a:ext cx="11521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2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Utilisez des environnements de test lors du développement ou de la modification de logiciels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20040" y="1664208"/>
            <a:ext cx="11521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Séparez les environnements de test et de production et protégez les données de test.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2606040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Correspondance Microsoft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2907792"/>
            <a:ext cx="11521440" cy="0"/>
          </a:xfrm>
          <a:prstGeom prst="line">
            <a:avLst/>
          </a:prstGeom>
          <a:noFill/>
          <a:ln w="6350">
            <a:solidFill>
              <a:srgbClr val="E3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2999232"/>
            <a:ext cx="11411712" cy="822960"/>
          </a:xfrm>
          <a:prstGeom prst="roundRect">
            <a:avLst>
              <a:gd name="adj" fmla="val 6667"/>
            </a:avLst>
          </a:prstGeom>
          <a:solidFill>
            <a:srgbClr val="F2F5FA"/>
          </a:solidFill>
          <a:ln w="6350">
            <a:solidFill>
              <a:srgbClr val="E3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3063240"/>
            <a:ext cx="11228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2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365 — Test/dev tenants &amp; environments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548872" y="3063240"/>
            <a:ext cx="256032" cy="201168"/>
          </a:xfrm>
          <a:prstGeom prst="rect">
            <a:avLst/>
          </a:prstGeom>
          <a:solidFill>
            <a:srgbClr val="64748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A1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1430000" y="649224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T13</a:t>
            </a:r>
            <a:endParaRPr lang="en-US" sz="8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EA5A3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82880"/>
            <a:ext cx="822960" cy="347472"/>
          </a:xfrm>
          <a:prstGeom prst="roundRect">
            <a:avLst>
              <a:gd name="adj" fmla="val 13158"/>
            </a:avLst>
          </a:prstGeom>
          <a:solidFill>
            <a:srgbClr val="0EA5A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O25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234440" y="20116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Basis 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331720" y="201168"/>
            <a:ext cx="640080" cy="292608"/>
          </a:xfrm>
          <a:prstGeom prst="rect">
            <a:avLst/>
          </a:prstGeom>
          <a:solidFill>
            <a:srgbClr val="2F6DF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658368"/>
            <a:ext cx="11521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2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Réalisez une AIPD sur les traitements à haut risque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20040" y="1664208"/>
            <a:ext cx="11521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Réalisez une analyse d'impact relative à la protection des données pour les traitements à haut risque.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2606040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Correspondance Microsoft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2907792"/>
            <a:ext cx="11521440" cy="0"/>
          </a:xfrm>
          <a:prstGeom prst="line">
            <a:avLst/>
          </a:prstGeom>
          <a:noFill/>
          <a:ln w="6350">
            <a:solidFill>
              <a:srgbClr val="E3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2999232"/>
            <a:ext cx="11411712" cy="822960"/>
          </a:xfrm>
          <a:prstGeom prst="roundRect">
            <a:avLst>
              <a:gd name="adj" fmla="val 6667"/>
            </a:avLst>
          </a:prstGeom>
          <a:solidFill>
            <a:srgbClr val="F2F5FA"/>
          </a:solidFill>
          <a:ln w="6350">
            <a:solidFill>
              <a:srgbClr val="E3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3063240"/>
            <a:ext cx="11228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2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Purview Compliance Manager — DPIA templates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548872" y="3063240"/>
            <a:ext cx="256032" cy="201168"/>
          </a:xfrm>
          <a:prstGeom prst="rect">
            <a:avLst/>
          </a:prstGeom>
          <a:solidFill>
            <a:srgbClr val="2F6DF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A3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1430000" y="649224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O25</a:t>
            </a:r>
            <a:endParaRPr lang="en-US" sz="8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EA5A3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82880"/>
            <a:ext cx="822960" cy="347472"/>
          </a:xfrm>
          <a:prstGeom prst="roundRect">
            <a:avLst>
              <a:gd name="adj" fmla="val 13158"/>
            </a:avLst>
          </a:prstGeom>
          <a:solidFill>
            <a:srgbClr val="0EA5A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O26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234440" y="20116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Basis 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331720" y="201168"/>
            <a:ext cx="640080" cy="292608"/>
          </a:xfrm>
          <a:prstGeom prst="rect">
            <a:avLst/>
          </a:prstGeom>
          <a:solidFill>
            <a:srgbClr val="64748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658368"/>
            <a:ext cx="11521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2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Prévoyez des procédures pour divulguer et contester la prise de décision automatisée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20040" y="1664208"/>
            <a:ext cx="11521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Soyez transparent sur la prise de décision automatisée et prévoyez un moyen de s'y opposer.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2606040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Correspondance Microsoft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2907792"/>
            <a:ext cx="11521440" cy="0"/>
          </a:xfrm>
          <a:prstGeom prst="line">
            <a:avLst/>
          </a:prstGeom>
          <a:noFill/>
          <a:ln w="6350">
            <a:solidFill>
              <a:srgbClr val="E3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2999232"/>
            <a:ext cx="11411712" cy="822960"/>
          </a:xfrm>
          <a:prstGeom prst="roundRect">
            <a:avLst>
              <a:gd name="adj" fmla="val 6667"/>
            </a:avLst>
          </a:prstGeom>
          <a:solidFill>
            <a:srgbClr val="F2F5FA"/>
          </a:solidFill>
          <a:ln w="6350">
            <a:solidFill>
              <a:srgbClr val="E3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3063240"/>
            <a:ext cx="11228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2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Responsible AI Standard &amp; guidance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548872" y="3063240"/>
            <a:ext cx="256032" cy="201168"/>
          </a:xfrm>
          <a:prstGeom prst="rect">
            <a:avLst/>
          </a:prstGeom>
          <a:solidFill>
            <a:srgbClr val="64748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A1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1430000" y="649224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O26</a:t>
            </a:r>
            <a:endParaRPr lang="en-US" sz="8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EA5A3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82880"/>
            <a:ext cx="822960" cy="347472"/>
          </a:xfrm>
          <a:prstGeom prst="roundRect">
            <a:avLst>
              <a:gd name="adj" fmla="val 13158"/>
            </a:avLst>
          </a:prstGeom>
          <a:solidFill>
            <a:srgbClr val="0EA5A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O9.5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234440" y="20116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Basis 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331720" y="201168"/>
            <a:ext cx="640080" cy="292608"/>
          </a:xfrm>
          <a:prstGeom prst="rect">
            <a:avLst/>
          </a:prstGeom>
          <a:solidFill>
            <a:srgbClr val="2F6DF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658368"/>
            <a:ext cx="11521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2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Ancrez la politique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20040" y="1664208"/>
            <a:ext cx="11521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Ancrez la politique de manière structurelle dans l'organisation, renforcée à chaque niveau Basis.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2606040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Correspondance Microsoft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2907792"/>
            <a:ext cx="11521440" cy="0"/>
          </a:xfrm>
          <a:prstGeom prst="line">
            <a:avLst/>
          </a:prstGeom>
          <a:noFill/>
          <a:ln w="6350">
            <a:solidFill>
              <a:srgbClr val="E3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2999232"/>
            <a:ext cx="11411712" cy="822960"/>
          </a:xfrm>
          <a:prstGeom prst="roundRect">
            <a:avLst>
              <a:gd name="adj" fmla="val 6667"/>
            </a:avLst>
          </a:prstGeom>
          <a:solidFill>
            <a:srgbClr val="F2F5FA"/>
          </a:solidFill>
          <a:ln w="6350">
            <a:solidFill>
              <a:srgbClr val="E3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3063240"/>
            <a:ext cx="11228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2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Purview Compliance Manager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548872" y="3063240"/>
            <a:ext cx="256032" cy="201168"/>
          </a:xfrm>
          <a:prstGeom prst="rect">
            <a:avLst/>
          </a:prstGeom>
          <a:solidFill>
            <a:srgbClr val="2F6DF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A3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1430000" y="649224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O9.5</a:t>
            </a:r>
            <a:endParaRPr lang="en-US" sz="8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EA5A3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82880"/>
            <a:ext cx="822960" cy="347472"/>
          </a:xfrm>
          <a:prstGeom prst="roundRect">
            <a:avLst>
              <a:gd name="adj" fmla="val 13158"/>
            </a:avLst>
          </a:prstGeom>
          <a:solidFill>
            <a:srgbClr val="0EA5A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O10.5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234440" y="20116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Basis 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331720" y="201168"/>
            <a:ext cx="640080" cy="292608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658368"/>
            <a:ext cx="11521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2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Proposez de la formation, de l’entraînement et de la sensibilisation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20040" y="1664208"/>
            <a:ext cx="11521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Formez en continu le personnel et les élèves à un comportement sûr et soucieux de la vie privée.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2606040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Correspondance Microsoft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2907792"/>
            <a:ext cx="11521440" cy="0"/>
          </a:xfrm>
          <a:prstGeom prst="line">
            <a:avLst/>
          </a:prstGeom>
          <a:noFill/>
          <a:ln w="6350">
            <a:solidFill>
              <a:srgbClr val="E3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2999232"/>
            <a:ext cx="5650992" cy="822960"/>
          </a:xfrm>
          <a:prstGeom prst="roundRect">
            <a:avLst>
              <a:gd name="adj" fmla="val 6667"/>
            </a:avLst>
          </a:prstGeom>
          <a:solidFill>
            <a:srgbClr val="F1E9FF"/>
          </a:solidFill>
          <a:ln w="6350">
            <a:solidFill>
              <a:srgbClr val="C4B5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3063240"/>
            <a:ext cx="5468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2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Attack Simulation Training (Defender for Office 365)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788152" y="3063240"/>
            <a:ext cx="256032" cy="201168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A5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080760" y="2999232"/>
            <a:ext cx="5650992" cy="822960"/>
          </a:xfrm>
          <a:prstGeom prst="roundRect">
            <a:avLst>
              <a:gd name="adj" fmla="val 6667"/>
            </a:avLst>
          </a:prstGeom>
          <a:solidFill>
            <a:srgbClr val="F2F5FA"/>
          </a:solidFill>
          <a:ln w="6350">
            <a:solidFill>
              <a:srgbClr val="E3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72200" y="3063240"/>
            <a:ext cx="5468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2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Viva Learning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548872" y="3063240"/>
            <a:ext cx="256032" cy="201168"/>
          </a:xfrm>
          <a:prstGeom prst="rect">
            <a:avLst/>
          </a:prstGeom>
          <a:solidFill>
            <a:srgbClr val="64748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A1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1430000" y="649224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O10.5</a:t>
            </a:r>
            <a:endParaRPr lang="en-US" sz="8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EA5A3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82880"/>
            <a:ext cx="822960" cy="347472"/>
          </a:xfrm>
          <a:prstGeom prst="roundRect">
            <a:avLst>
              <a:gd name="adj" fmla="val 13158"/>
            </a:avLst>
          </a:prstGeom>
          <a:solidFill>
            <a:srgbClr val="0EA5A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O27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234440" y="20116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Basis 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331720" y="201168"/>
            <a:ext cx="640080" cy="292608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658368"/>
            <a:ext cx="11521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2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Prévoyez un plan de gestion de crise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20040" y="1664208"/>
            <a:ext cx="11521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Préparez-vous aux incidents avec un plan de crise et de continuité.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2606040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Correspondance Microsoft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2907792"/>
            <a:ext cx="11521440" cy="0"/>
          </a:xfrm>
          <a:prstGeom prst="line">
            <a:avLst/>
          </a:prstGeom>
          <a:noFill/>
          <a:ln w="6350">
            <a:solidFill>
              <a:srgbClr val="E3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2999232"/>
            <a:ext cx="5650992" cy="822960"/>
          </a:xfrm>
          <a:prstGeom prst="roundRect">
            <a:avLst>
              <a:gd name="adj" fmla="val 6667"/>
            </a:avLst>
          </a:prstGeom>
          <a:solidFill>
            <a:srgbClr val="F1E9FF"/>
          </a:solidFill>
          <a:ln w="6350">
            <a:solidFill>
              <a:srgbClr val="C4B5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3063240"/>
            <a:ext cx="5468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2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Defender XDR — Incident response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788152" y="3063240"/>
            <a:ext cx="256032" cy="201168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A5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080760" y="2999232"/>
            <a:ext cx="5650992" cy="822960"/>
          </a:xfrm>
          <a:prstGeom prst="roundRect">
            <a:avLst>
              <a:gd name="adj" fmla="val 6667"/>
            </a:avLst>
          </a:prstGeom>
          <a:solidFill>
            <a:srgbClr val="F1E9FF"/>
          </a:solidFill>
          <a:ln w="6350">
            <a:solidFill>
              <a:srgbClr val="C4B5F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72200" y="3063240"/>
            <a:ext cx="5468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2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Sentinel — SOAR playbooks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548872" y="3063240"/>
            <a:ext cx="256032" cy="201168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A5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1430000" y="649224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O27</a:t>
            </a:r>
            <a:endParaRPr lang="en-US" sz="8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EA5A3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82880"/>
            <a:ext cx="822960" cy="347472"/>
          </a:xfrm>
          <a:prstGeom prst="roundRect">
            <a:avLst>
              <a:gd name="adj" fmla="val 13158"/>
            </a:avLst>
          </a:prstGeom>
          <a:solidFill>
            <a:srgbClr val="0EA5A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O28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234440" y="20116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Basis 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331720" y="201168"/>
            <a:ext cx="640080" cy="292608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658368"/>
            <a:ext cx="11521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2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Analysez l’incident et les procédures suivies, et ajustez si nécessaire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20040" y="1664208"/>
            <a:ext cx="11521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Réalisez une analyse post-incident et améliorez les processus.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2606040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Correspondance Microsoft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2907792"/>
            <a:ext cx="11521440" cy="0"/>
          </a:xfrm>
          <a:prstGeom prst="line">
            <a:avLst/>
          </a:prstGeom>
          <a:noFill/>
          <a:ln w="6350">
            <a:solidFill>
              <a:srgbClr val="E3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2999232"/>
            <a:ext cx="11411712" cy="822960"/>
          </a:xfrm>
          <a:prstGeom prst="roundRect">
            <a:avLst>
              <a:gd name="adj" fmla="val 6667"/>
            </a:avLst>
          </a:prstGeom>
          <a:solidFill>
            <a:srgbClr val="F1E9FF"/>
          </a:solidFill>
          <a:ln w="6350">
            <a:solidFill>
              <a:srgbClr val="C4B5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3063240"/>
            <a:ext cx="11228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2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Defender XDR — Advanced hunting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548872" y="3063240"/>
            <a:ext cx="256032" cy="201168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A5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1430000" y="649224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O28</a:t>
            </a:r>
            <a:endParaRPr lang="en-US" sz="8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EA5A3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82880"/>
            <a:ext cx="822960" cy="347472"/>
          </a:xfrm>
          <a:prstGeom prst="roundRect">
            <a:avLst>
              <a:gd name="adj" fmla="val 13158"/>
            </a:avLst>
          </a:prstGeom>
          <a:solidFill>
            <a:srgbClr val="0EA5A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O29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234440" y="20116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Basis 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331720" y="201168"/>
            <a:ext cx="640080" cy="292608"/>
          </a:xfrm>
          <a:prstGeom prst="rect">
            <a:avLst/>
          </a:prstGeom>
          <a:solidFill>
            <a:srgbClr val="64748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658368"/>
            <a:ext cx="11521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2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Communiquez après un incident avec le personnel et les élèves afin d’en tirer des leçons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20040" y="1664208"/>
            <a:ext cx="11521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Communiquez de manière transparente après les incidents et partagez les enseignements.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2606040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Correspondance Microsoft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2907792"/>
            <a:ext cx="11521440" cy="0"/>
          </a:xfrm>
          <a:prstGeom prst="line">
            <a:avLst/>
          </a:prstGeom>
          <a:noFill/>
          <a:ln w="6350">
            <a:solidFill>
              <a:srgbClr val="E3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2999232"/>
            <a:ext cx="11411712" cy="822960"/>
          </a:xfrm>
          <a:prstGeom prst="roundRect">
            <a:avLst>
              <a:gd name="adj" fmla="val 6667"/>
            </a:avLst>
          </a:prstGeom>
          <a:solidFill>
            <a:srgbClr val="F2F5FA"/>
          </a:solidFill>
          <a:ln w="6350">
            <a:solidFill>
              <a:srgbClr val="E3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3063240"/>
            <a:ext cx="11228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2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Teams / Viva Engage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548872" y="3063240"/>
            <a:ext cx="256032" cy="201168"/>
          </a:xfrm>
          <a:prstGeom prst="rect">
            <a:avLst/>
          </a:prstGeom>
          <a:solidFill>
            <a:srgbClr val="64748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A1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1430000" y="649224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O29</a:t>
            </a:r>
            <a:endParaRPr lang="en-US" sz="8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EA5A3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82880"/>
            <a:ext cx="822960" cy="347472"/>
          </a:xfrm>
          <a:prstGeom prst="roundRect">
            <a:avLst>
              <a:gd name="adj" fmla="val 13158"/>
            </a:avLst>
          </a:prstGeom>
          <a:solidFill>
            <a:srgbClr val="0EA5A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O9.6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234440" y="20116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Basis 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331720" y="201168"/>
            <a:ext cx="640080" cy="292608"/>
          </a:xfrm>
          <a:prstGeom prst="rect">
            <a:avLst/>
          </a:prstGeom>
          <a:solidFill>
            <a:srgbClr val="2F6DF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658368"/>
            <a:ext cx="11521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2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Ancrez la politique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20040" y="1664208"/>
            <a:ext cx="11521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Ancrez la politique de manière structurelle dans l'organisation, renforcée à chaque niveau Basis.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2606040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Correspondance Microsoft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2907792"/>
            <a:ext cx="11521440" cy="0"/>
          </a:xfrm>
          <a:prstGeom prst="line">
            <a:avLst/>
          </a:prstGeom>
          <a:noFill/>
          <a:ln w="6350">
            <a:solidFill>
              <a:srgbClr val="E3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2999232"/>
            <a:ext cx="11411712" cy="822960"/>
          </a:xfrm>
          <a:prstGeom prst="roundRect">
            <a:avLst>
              <a:gd name="adj" fmla="val 6667"/>
            </a:avLst>
          </a:prstGeom>
          <a:solidFill>
            <a:srgbClr val="F2F5FA"/>
          </a:solidFill>
          <a:ln w="6350">
            <a:solidFill>
              <a:srgbClr val="E3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3063240"/>
            <a:ext cx="11228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2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Purview Compliance Manager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548872" y="3063240"/>
            <a:ext cx="256032" cy="201168"/>
          </a:xfrm>
          <a:prstGeom prst="rect">
            <a:avLst/>
          </a:prstGeom>
          <a:solidFill>
            <a:srgbClr val="2F6DF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A3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1430000" y="649224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O9.6</a:t>
            </a:r>
            <a:endParaRPr lang="en-US" sz="8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EA5A3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82880"/>
            <a:ext cx="822960" cy="347472"/>
          </a:xfrm>
          <a:prstGeom prst="roundRect">
            <a:avLst>
              <a:gd name="adj" fmla="val 13158"/>
            </a:avLst>
          </a:prstGeom>
          <a:solidFill>
            <a:srgbClr val="0EA5A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O10.6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234440" y="20116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Basis 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331720" y="201168"/>
            <a:ext cx="640080" cy="292608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658368"/>
            <a:ext cx="11521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2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Proposez de la formation, de l’entraînement et de la sensibilisation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20040" y="1664208"/>
            <a:ext cx="11521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Formez en continu le personnel et les élèves à un comportement sûr et soucieux de la vie privée.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2606040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Correspondance Microsoft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2907792"/>
            <a:ext cx="11521440" cy="0"/>
          </a:xfrm>
          <a:prstGeom prst="line">
            <a:avLst/>
          </a:prstGeom>
          <a:noFill/>
          <a:ln w="6350">
            <a:solidFill>
              <a:srgbClr val="E3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2999232"/>
            <a:ext cx="5650992" cy="822960"/>
          </a:xfrm>
          <a:prstGeom prst="roundRect">
            <a:avLst>
              <a:gd name="adj" fmla="val 6667"/>
            </a:avLst>
          </a:prstGeom>
          <a:solidFill>
            <a:srgbClr val="F1E9FF"/>
          </a:solidFill>
          <a:ln w="6350">
            <a:solidFill>
              <a:srgbClr val="C4B5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3063240"/>
            <a:ext cx="5468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2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Attack Simulation Training (Defender for Office 365)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788152" y="3063240"/>
            <a:ext cx="256032" cy="201168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A5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080760" y="2999232"/>
            <a:ext cx="5650992" cy="822960"/>
          </a:xfrm>
          <a:prstGeom prst="roundRect">
            <a:avLst>
              <a:gd name="adj" fmla="val 6667"/>
            </a:avLst>
          </a:prstGeom>
          <a:solidFill>
            <a:srgbClr val="F2F5FA"/>
          </a:solidFill>
          <a:ln w="6350">
            <a:solidFill>
              <a:srgbClr val="E3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72200" y="3063240"/>
            <a:ext cx="5468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2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Viva Learning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548872" y="3063240"/>
            <a:ext cx="256032" cy="201168"/>
          </a:xfrm>
          <a:prstGeom prst="rect">
            <a:avLst/>
          </a:prstGeom>
          <a:solidFill>
            <a:srgbClr val="64748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A1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1430000" y="649224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O10.6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53</Slides>
  <Notes>53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5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GRIP Visualizer</dc:title>
  <dc:subject>Associer les mesures GRIP flamandes à la pile Microsoft A3/A5</dc:subject>
  <dc:creator>PptxGenJS</dc:creator>
  <cp:lastModifiedBy>PptxGenJS</cp:lastModifiedBy>
  <cp:revision>1</cp:revision>
  <dcterms:created xsi:type="dcterms:W3CDTF">2026-06-18T15:53:31Z</dcterms:created>
  <dcterms:modified xsi:type="dcterms:W3CDTF">2026-06-18T15:53:31Z</dcterms:modified>
</cp:coreProperties>
</file>